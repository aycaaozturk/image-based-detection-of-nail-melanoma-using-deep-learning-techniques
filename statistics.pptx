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5" r:id="rId5"/>
    <p:sldId id="267" r:id="rId6"/>
    <p:sldId id="266" r:id="rId7"/>
    <p:sldId id="259" r:id="rId8"/>
    <p:sldId id="268" r:id="rId9"/>
    <p:sldId id="271" r:id="rId10"/>
    <p:sldId id="260" r:id="rId11"/>
    <p:sldId id="261" r:id="rId12"/>
    <p:sldId id="262" r:id="rId13"/>
    <p:sldId id="274" r:id="rId14"/>
    <p:sldId id="272" r:id="rId15"/>
    <p:sldId id="270" r:id="rId16"/>
    <p:sldId id="269" r:id="rId17"/>
    <p:sldId id="277" r:id="rId18"/>
    <p:sldId id="293" r:id="rId19"/>
    <p:sldId id="278" r:id="rId20"/>
    <p:sldId id="279" r:id="rId21"/>
    <p:sldId id="281" r:id="rId22"/>
    <p:sldId id="280" r:id="rId23"/>
    <p:sldId id="282" r:id="rId24"/>
    <p:sldId id="283" r:id="rId25"/>
    <p:sldId id="286" r:id="rId26"/>
    <p:sldId id="294" r:id="rId27"/>
    <p:sldId id="284" r:id="rId28"/>
    <p:sldId id="285" r:id="rId29"/>
    <p:sldId id="287" r:id="rId30"/>
    <p:sldId id="288" r:id="rId31"/>
    <p:sldId id="289" r:id="rId32"/>
    <p:sldId id="290" r:id="rId33"/>
    <p:sldId id="295" r:id="rId34"/>
    <p:sldId id="29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xml"/><Relationship Id="rId2" Type="http://schemas.openxmlformats.org/officeDocument/2006/relationships/image" Target="../media/image29.png"/><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86230" y="1650365"/>
            <a:ext cx="9144000" cy="883920"/>
          </a:xfrm>
        </p:spPr>
        <p:txBody>
          <a:bodyPr/>
          <a:lstStyle/>
          <a:p>
            <a:r>
              <a:rPr lang="de-DE" altLang="en-US" sz="4000" dirty="0">
                <a:latin typeface="Calibri" panose="020F0502020204030204" charset="0"/>
              </a:rPr>
              <a:t>Nail Melanoma Project</a:t>
            </a:r>
            <a:endParaRPr lang="de-DE" altLang="en-US" sz="4000" dirty="0">
              <a:latin typeface="Calibri" panose="020F0502020204030204" charset="0"/>
            </a:endParaRPr>
          </a:p>
        </p:txBody>
      </p:sp>
      <p:sp>
        <p:nvSpPr>
          <p:cNvPr id="3" name="Subtitle 2"/>
          <p:cNvSpPr>
            <a:spLocks noGrp="1"/>
          </p:cNvSpPr>
          <p:nvPr>
            <p:ph type="subTitle" idx="1"/>
          </p:nvPr>
        </p:nvSpPr>
        <p:spPr>
          <a:xfrm>
            <a:off x="1586230" y="2461260"/>
            <a:ext cx="9871075" cy="1655445"/>
          </a:xfrm>
        </p:spPr>
        <p:txBody>
          <a:bodyPr/>
          <a:lstStyle/>
          <a:p>
            <a:r>
              <a:rPr lang="de-DE" altLang="en-US">
                <a:latin typeface="Calibri" panose="020F0502020204030204" charset="0"/>
              </a:rPr>
              <a:t> Statistical Analysis and Detection Performance from different CNN Models</a:t>
            </a:r>
            <a:endParaRPr lang="de-DE" altLang="en-US">
              <a:latin typeface="Calibri" panose="020F0502020204030204" charset="0"/>
            </a:endParaRPr>
          </a:p>
        </p:txBody>
      </p:sp>
      <p:pic>
        <p:nvPicPr>
          <p:cNvPr id="12" name="Picture 11"/>
          <p:cNvPicPr/>
          <p:nvPr/>
        </p:nvPicPr>
        <p:blipFill>
          <a:blip r:embed="rId1"/>
          <a:stretch>
            <a:fillRect/>
          </a:stretch>
        </p:blipFill>
        <p:spPr>
          <a:xfrm>
            <a:off x="-37147" y="-27940"/>
            <a:ext cx="3305175" cy="1447800"/>
          </a:xfrm>
          <a:prstGeom prst="rect">
            <a:avLst/>
          </a:prstGeom>
        </p:spPr>
      </p:pic>
      <p:sp>
        <p:nvSpPr>
          <p:cNvPr id="4" name="Text Box 3"/>
          <p:cNvSpPr txBox="1"/>
          <p:nvPr/>
        </p:nvSpPr>
        <p:spPr>
          <a:xfrm>
            <a:off x="260985" y="5078095"/>
            <a:ext cx="3386455" cy="1076325"/>
          </a:xfrm>
          <a:prstGeom prst="rect">
            <a:avLst/>
          </a:prstGeom>
          <a:noFill/>
        </p:spPr>
        <p:txBody>
          <a:bodyPr wrap="square" rtlCol="0">
            <a:spAutoFit/>
          </a:bodyPr>
          <a:p>
            <a:endParaRPr lang="de-DE" altLang="en-US" sz="1600" b="1">
              <a:latin typeface="Calibri" panose="020F0502020204030204" charset="0"/>
            </a:endParaRPr>
          </a:p>
          <a:p>
            <a:r>
              <a:rPr lang="de-DE" altLang="en-US" sz="1600" b="1">
                <a:latin typeface="Calibri" panose="020F0502020204030204" charset="0"/>
              </a:rPr>
              <a:t>Supervisor:</a:t>
            </a:r>
            <a:r>
              <a:rPr lang="de-DE" altLang="en-US" sz="1600">
                <a:latin typeface="Calibri" panose="020F0502020204030204" charset="0"/>
              </a:rPr>
              <a:t> Juan Prada</a:t>
            </a:r>
            <a:endParaRPr lang="de-DE" altLang="en-US" sz="1600">
              <a:latin typeface="Calibri" panose="020F0502020204030204" charset="0"/>
            </a:endParaRPr>
          </a:p>
          <a:p>
            <a:r>
              <a:rPr lang="de-DE" altLang="en-US" sz="1600" b="1">
                <a:latin typeface="Calibri" panose="020F0502020204030204" charset="0"/>
              </a:rPr>
              <a:t>Second Examiner:</a:t>
            </a:r>
            <a:r>
              <a:rPr lang="de-DE" altLang="en-US" sz="1600">
                <a:latin typeface="Calibri" panose="020F0502020204030204" charset="0"/>
              </a:rPr>
              <a:t> Thomas Dandekar</a:t>
            </a:r>
            <a:endParaRPr lang="de-DE" altLang="en-US" sz="1600">
              <a:latin typeface="Calibri" panose="020F0502020204030204" charset="0"/>
            </a:endParaRPr>
          </a:p>
          <a:p>
            <a:r>
              <a:rPr lang="de-DE" altLang="en-US" sz="1600">
                <a:latin typeface="Calibri" panose="020F0502020204030204" charset="0"/>
              </a:rPr>
              <a:t>Ayca Öztürk, 2777497</a:t>
            </a:r>
            <a:endParaRPr lang="de-DE" altLang="en-US" sz="1600">
              <a:latin typeface="Calibri" panose="020F0502020204030204" charset="0"/>
            </a:endParaRPr>
          </a:p>
        </p:txBody>
      </p:sp>
      <p:pic>
        <p:nvPicPr>
          <p:cNvPr id="5" name="Picture 4"/>
          <p:cNvPicPr>
            <a:picLocks noChangeAspect="1"/>
          </p:cNvPicPr>
          <p:nvPr/>
        </p:nvPicPr>
        <p:blipFill>
          <a:blip r:embed="rId2"/>
          <a:stretch>
            <a:fillRect/>
          </a:stretch>
        </p:blipFill>
        <p:spPr>
          <a:xfrm>
            <a:off x="4525645" y="3061335"/>
            <a:ext cx="3140075" cy="2829560"/>
          </a:xfrm>
          <a:prstGeom prst="rect">
            <a:avLst/>
          </a:prstGeom>
        </p:spPr>
      </p:pic>
      <p:sp>
        <p:nvSpPr>
          <p:cNvPr id="6" name="Text Box 5"/>
          <p:cNvSpPr txBox="1"/>
          <p:nvPr/>
        </p:nvSpPr>
        <p:spPr>
          <a:xfrm>
            <a:off x="13359765" y="2105025"/>
            <a:ext cx="4064000" cy="368300"/>
          </a:xfrm>
          <a:prstGeom prst="rect">
            <a:avLst/>
          </a:prstGeom>
          <a:noFill/>
        </p:spPr>
        <p:txBody>
          <a:bodyPr wrap="square" rtlCol="0">
            <a:spAutoFit/>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0"/>
            <a:ext cx="10515600" cy="1325563"/>
          </a:xfrm>
        </p:spPr>
        <p:txBody>
          <a:bodyPr/>
          <a:p>
            <a:r>
              <a:rPr lang="de-DE" altLang="en-US" sz="2400" b="1">
                <a:latin typeface="Calibri" panose="020F0502020204030204" charset="0"/>
                <a:sym typeface="+mn-ea"/>
              </a:rPr>
              <a:t>Results of the Bounding Box Algorithm: </a:t>
            </a:r>
            <a:r>
              <a:rPr lang="de-DE" altLang="en-US" sz="2400" b="1">
                <a:latin typeface="Calibri" panose="020F0502020204030204" charset="0"/>
              </a:rPr>
              <a:t>Precision, Recall and F1-Scores from the Confusion Matrices </a:t>
            </a:r>
            <a:endParaRPr lang="de-DE" altLang="en-US" sz="2400" b="1">
              <a:latin typeface="Calibri" panose="020F0502020204030204" charset="0"/>
            </a:endParaRPr>
          </a:p>
        </p:txBody>
      </p:sp>
      <p:sp>
        <p:nvSpPr>
          <p:cNvPr id="3" name="Content Placeholder 2"/>
          <p:cNvSpPr>
            <a:spLocks noGrp="1"/>
          </p:cNvSpPr>
          <p:nvPr>
            <p:ph idx="1"/>
          </p:nvPr>
        </p:nvSpPr>
        <p:spPr>
          <a:xfrm>
            <a:off x="277495" y="570865"/>
            <a:ext cx="10515600" cy="4189730"/>
          </a:xfrm>
        </p:spPr>
        <p:txBody>
          <a:bodyPr/>
          <a:p>
            <a:pPr marL="0" indent="0">
              <a:buNone/>
            </a:pPr>
            <a:endParaRPr lang="de-DE" altLang="en-US" b="1">
              <a:latin typeface="Calibri" panose="020F0502020204030204" charset="0"/>
            </a:endParaRPr>
          </a:p>
          <a:p>
            <a:pPr lvl="1"/>
            <a:r>
              <a:rPr lang="de-DE" altLang="en-US" sz="1800">
                <a:latin typeface="Calibri" panose="020F0502020204030204" charset="0"/>
              </a:rPr>
              <a:t>dataset: 831 images (70% train, 20% val, 10% test)</a:t>
            </a:r>
            <a:endParaRPr lang="de-DE" altLang="en-US" sz="1800">
              <a:latin typeface="Calibri" panose="020F0502020204030204" charset="0"/>
            </a:endParaRPr>
          </a:p>
          <a:p>
            <a:pPr lvl="1"/>
            <a:r>
              <a:rPr lang="de-DE" altLang="en-US" sz="1800">
                <a:latin typeface="Calibri" panose="020F0502020204030204" charset="0"/>
              </a:rPr>
              <a:t>optimizer: auto   conf: 0,3      lr0=0,01</a:t>
            </a:r>
            <a:endParaRPr lang="de-DE" altLang="en-US" sz="1800">
              <a:latin typeface="Calibri" panose="020F0502020204030204" charset="0"/>
            </a:endParaRPr>
          </a:p>
          <a:p>
            <a:pPr lvl="1"/>
            <a:endParaRPr lang="de-DE" altLang="en-US" sz="1800">
              <a:latin typeface="Calibri" panose="020F0502020204030204" charset="0"/>
            </a:endParaRPr>
          </a:p>
        </p:txBody>
      </p:sp>
      <p:graphicFrame>
        <p:nvGraphicFramePr>
          <p:cNvPr id="7" name="Table 6"/>
          <p:cNvGraphicFramePr/>
          <p:nvPr>
            <p:custDataLst>
              <p:tags r:id="rId1"/>
            </p:custDataLst>
          </p:nvPr>
        </p:nvGraphicFramePr>
        <p:xfrm>
          <a:off x="1785620" y="1891665"/>
          <a:ext cx="8620760" cy="4251325"/>
        </p:xfrm>
        <a:graphic>
          <a:graphicData uri="http://schemas.openxmlformats.org/drawingml/2006/table">
            <a:tbl>
              <a:tblPr firstRow="1" bandRow="1">
                <a:tableStyleId>{5C22544A-7EE6-4342-B048-85BDC9FD1C3A}</a:tableStyleId>
              </a:tblPr>
              <a:tblGrid>
                <a:gridCol w="575945"/>
                <a:gridCol w="1164590"/>
                <a:gridCol w="1357630"/>
                <a:gridCol w="1769745"/>
                <a:gridCol w="2185035"/>
                <a:gridCol w="1567815"/>
              </a:tblGrid>
              <a:tr h="662940">
                <a:tc>
                  <a:txBody>
                    <a:bodyPr/>
                    <a:p>
                      <a:pPr>
                        <a:buNone/>
                      </a:pPr>
                      <a:endParaRPr lang="en-US"/>
                    </a:p>
                  </a:txBody>
                  <a:tcPr/>
                </a:tc>
                <a:tc>
                  <a:txBody>
                    <a:bodyPr/>
                    <a:p>
                      <a:pPr>
                        <a:buNone/>
                      </a:pPr>
                      <a:r>
                        <a:rPr lang="de-DE" altLang="en-US">
                          <a:solidFill>
                            <a:schemeClr val="tx1"/>
                          </a:solidFill>
                          <a:latin typeface="Calibri" panose="020F0502020204030204" charset="0"/>
                        </a:rPr>
                        <a:t>epochs</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batch</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precision</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recall</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F1-Score</a:t>
                      </a:r>
                      <a:endParaRPr lang="de-DE" altLang="en-US">
                        <a:solidFill>
                          <a:schemeClr val="tx1"/>
                        </a:solidFill>
                        <a:latin typeface="Calibri" panose="020F0502020204030204" charset="0"/>
                      </a:endParaRPr>
                    </a:p>
                  </a:txBody>
                  <a:tcPr/>
                </a:tc>
              </a:tr>
              <a:tr h="394335">
                <a:tc>
                  <a:txBody>
                    <a:bodyPr/>
                    <a:p>
                      <a:pPr>
                        <a:buNone/>
                      </a:pPr>
                      <a:r>
                        <a:rPr lang="de-DE" altLang="en-US">
                          <a:latin typeface="Calibri" panose="020F0502020204030204" charset="0"/>
                        </a:rPr>
                        <a:t>1</a:t>
                      </a:r>
                      <a:endParaRPr lang="de-DE" altLang="en-US">
                        <a:latin typeface="Calibri" panose="020F0502020204030204" charset="0"/>
                      </a:endParaRPr>
                    </a:p>
                  </a:txBody>
                  <a:tcPr/>
                </a:tc>
                <a:tc>
                  <a:txBody>
                    <a:bodyPr/>
                    <a:p>
                      <a:pPr>
                        <a:buNone/>
                      </a:pPr>
                      <a:r>
                        <a:rPr lang="de-DE" altLang="en-US">
                          <a:latin typeface="Calibri" panose="020F0502020204030204" charset="0"/>
                        </a:rPr>
                        <a:t>20</a:t>
                      </a:r>
                      <a:endParaRPr lang="de-DE" altLang="en-US">
                        <a:latin typeface="Calibri" panose="020F0502020204030204" charset="0"/>
                      </a:endParaRPr>
                    </a:p>
                  </a:txBody>
                  <a:tcPr/>
                </a:tc>
                <a:tc>
                  <a:txBody>
                    <a:bodyPr/>
                    <a:p>
                      <a:pPr>
                        <a:buNone/>
                      </a:pPr>
                      <a:r>
                        <a:rPr lang="de-DE" altLang="en-US">
                          <a:latin typeface="Calibri" panose="020F0502020204030204" charset="0"/>
                        </a:rPr>
                        <a:t>8</a:t>
                      </a:r>
                      <a:endParaRPr lang="de-DE" altLang="en-US">
                        <a:latin typeface="Calibri" panose="020F0502020204030204" charset="0"/>
                      </a:endParaRPr>
                    </a:p>
                  </a:txBody>
                  <a:tcPr/>
                </a:tc>
                <a:tc>
                  <a:txBody>
                    <a:bodyPr/>
                    <a:p>
                      <a:pPr>
                        <a:buNone/>
                      </a:pPr>
                      <a:r>
                        <a:rPr lang="de-DE" altLang="en-US">
                          <a:latin typeface="Calibri" panose="020F0502020204030204" charset="0"/>
                        </a:rPr>
                        <a:t>0,91</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0,951</a:t>
                      </a:r>
                      <a:endParaRPr lang="de-DE" altLang="en-US">
                        <a:latin typeface="Calibri" panose="020F0502020204030204" charset="0"/>
                      </a:endParaRPr>
                    </a:p>
                  </a:txBody>
                  <a:tcPr/>
                </a:tc>
              </a:tr>
              <a:tr h="394970">
                <a:tc>
                  <a:txBody>
                    <a:bodyPr/>
                    <a:p>
                      <a:pPr>
                        <a:buNone/>
                      </a:pPr>
                      <a:r>
                        <a:rPr lang="de-DE" altLang="en-US">
                          <a:latin typeface="Calibri" panose="020F0502020204030204" charset="0"/>
                        </a:rPr>
                        <a:t>2</a:t>
                      </a:r>
                      <a:endParaRPr lang="de-DE" altLang="en-US">
                        <a:latin typeface="Calibri" panose="020F0502020204030204" charset="0"/>
                      </a:endParaRPr>
                    </a:p>
                  </a:txBody>
                  <a:tcPr/>
                </a:tc>
                <a:tc>
                  <a:txBody>
                    <a:bodyPr/>
                    <a:p>
                      <a:pPr>
                        <a:buNone/>
                      </a:pPr>
                      <a:r>
                        <a:rPr lang="de-DE" altLang="en-US">
                          <a:latin typeface="Calibri" panose="020F0502020204030204" charset="0"/>
                        </a:rPr>
                        <a:t>20</a:t>
                      </a:r>
                      <a:endParaRPr lang="de-DE" altLang="en-US">
                        <a:latin typeface="Calibri" panose="020F0502020204030204" charset="0"/>
                      </a:endParaRPr>
                    </a:p>
                  </a:txBody>
                  <a:tcPr/>
                </a:tc>
                <a:tc>
                  <a:txBody>
                    <a:bodyPr/>
                    <a:p>
                      <a:pPr>
                        <a:buNone/>
                      </a:pPr>
                      <a:r>
                        <a:rPr lang="de-DE" altLang="en-US">
                          <a:latin typeface="Calibri" panose="020F0502020204030204" charset="0"/>
                        </a:rPr>
                        <a:t>16</a:t>
                      </a:r>
                      <a:endParaRPr lang="de-DE" altLang="en-US">
                        <a:latin typeface="Calibri" panose="020F0502020204030204" charset="0"/>
                      </a:endParaRPr>
                    </a:p>
                  </a:txBody>
                  <a:tcPr/>
                </a:tc>
                <a:tc>
                  <a:txBody>
                    <a:bodyPr/>
                    <a:p>
                      <a:pPr>
                        <a:buNone/>
                      </a:pPr>
                      <a:r>
                        <a:rPr lang="de-DE" altLang="en-US">
                          <a:latin typeface="Calibri" panose="020F0502020204030204" charset="0"/>
                        </a:rPr>
                        <a:t>0,90</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0,949</a:t>
                      </a:r>
                      <a:endParaRPr lang="de-DE" altLang="en-US">
                        <a:latin typeface="Calibri" panose="020F0502020204030204" charset="0"/>
                      </a:endParaRPr>
                    </a:p>
                  </a:txBody>
                  <a:tcPr/>
                </a:tc>
              </a:tr>
              <a:tr h="393700">
                <a:tc>
                  <a:txBody>
                    <a:bodyPr/>
                    <a:p>
                      <a:pPr>
                        <a:buNone/>
                      </a:pPr>
                      <a:r>
                        <a:rPr lang="de-DE" altLang="en-US" b="1">
                          <a:latin typeface="Calibri" panose="020F0502020204030204" charset="0"/>
                        </a:rPr>
                        <a:t>3</a:t>
                      </a:r>
                      <a:endParaRPr lang="de-DE" altLang="en-US" b="1">
                        <a:latin typeface="Calibri" panose="020F0502020204030204" charset="0"/>
                      </a:endParaRPr>
                    </a:p>
                  </a:txBody>
                  <a:tcPr/>
                </a:tc>
                <a:tc>
                  <a:txBody>
                    <a:bodyPr/>
                    <a:p>
                      <a:pPr>
                        <a:buNone/>
                      </a:pPr>
                      <a:r>
                        <a:rPr lang="de-DE" altLang="en-US" b="1">
                          <a:latin typeface="Calibri" panose="020F0502020204030204" charset="0"/>
                        </a:rPr>
                        <a:t>20</a:t>
                      </a:r>
                      <a:endParaRPr lang="de-DE" altLang="en-US" b="1">
                        <a:latin typeface="Calibri" panose="020F0502020204030204" charset="0"/>
                      </a:endParaRPr>
                    </a:p>
                  </a:txBody>
                  <a:tcPr/>
                </a:tc>
                <a:tc>
                  <a:txBody>
                    <a:bodyPr/>
                    <a:p>
                      <a:pPr>
                        <a:buNone/>
                      </a:pPr>
                      <a:r>
                        <a:rPr lang="de-DE" altLang="en-US" b="1">
                          <a:latin typeface="Calibri" panose="020F0502020204030204" charset="0"/>
                        </a:rPr>
                        <a:t>32</a:t>
                      </a:r>
                      <a:endParaRPr lang="de-DE" altLang="en-US" b="1">
                        <a:latin typeface="Calibri" panose="020F0502020204030204" charset="0"/>
                      </a:endParaRPr>
                    </a:p>
                  </a:txBody>
                  <a:tcPr/>
                </a:tc>
                <a:tc>
                  <a:txBody>
                    <a:bodyPr/>
                    <a:p>
                      <a:pPr>
                        <a:buNone/>
                      </a:pPr>
                      <a:r>
                        <a:rPr lang="de-DE" altLang="en-US" b="1">
                          <a:latin typeface="Calibri" panose="020F0502020204030204" charset="0"/>
                        </a:rPr>
                        <a:t>0,95</a:t>
                      </a:r>
                      <a:endParaRPr lang="de-DE" altLang="en-US" b="1">
                        <a:latin typeface="Calibri" panose="020F0502020204030204" charset="0"/>
                      </a:endParaRPr>
                    </a:p>
                  </a:txBody>
                  <a:tcPr/>
                </a:tc>
                <a:tc>
                  <a:txBody>
                    <a:bodyPr/>
                    <a:p>
                      <a:pPr>
                        <a:buNone/>
                      </a:pPr>
                      <a:r>
                        <a:rPr lang="de-DE" altLang="en-US" b="1">
                          <a:latin typeface="Calibri" panose="020F0502020204030204" charset="0"/>
                        </a:rPr>
                        <a:t>1</a:t>
                      </a:r>
                      <a:endParaRPr lang="de-DE" altLang="en-US" b="1">
                        <a:latin typeface="Calibri" panose="020F0502020204030204" charset="0"/>
                      </a:endParaRPr>
                    </a:p>
                  </a:txBody>
                  <a:tcPr/>
                </a:tc>
                <a:tc>
                  <a:txBody>
                    <a:bodyPr/>
                    <a:p>
                      <a:pPr>
                        <a:buNone/>
                      </a:pPr>
                      <a:r>
                        <a:rPr lang="de-DE" altLang="en-US" b="1">
                          <a:latin typeface="Calibri" panose="020F0502020204030204" charset="0"/>
                        </a:rPr>
                        <a:t>0,975</a:t>
                      </a:r>
                      <a:endParaRPr lang="de-DE" altLang="en-US" b="1">
                        <a:latin typeface="Calibri" panose="020F0502020204030204" charset="0"/>
                      </a:endParaRPr>
                    </a:p>
                  </a:txBody>
                  <a:tcPr/>
                </a:tc>
              </a:tr>
              <a:tr h="433070">
                <a:tc>
                  <a:txBody>
                    <a:bodyPr/>
                    <a:p>
                      <a:pPr>
                        <a:buNone/>
                      </a:pPr>
                      <a:r>
                        <a:rPr lang="de-DE" altLang="en-US">
                          <a:latin typeface="Calibri" panose="020F0502020204030204" charset="0"/>
                        </a:rPr>
                        <a:t>4</a:t>
                      </a:r>
                      <a:endParaRPr lang="de-DE" altLang="en-US">
                        <a:latin typeface="Calibri" panose="020F0502020204030204" charset="0"/>
                      </a:endParaRPr>
                    </a:p>
                  </a:txBody>
                  <a:tcPr/>
                </a:tc>
                <a:tc>
                  <a:txBody>
                    <a:bodyPr/>
                    <a:p>
                      <a:pPr>
                        <a:buNone/>
                      </a:pPr>
                      <a:r>
                        <a:rPr lang="de-DE" altLang="en-US">
                          <a:latin typeface="Calibri" panose="020F0502020204030204" charset="0"/>
                        </a:rPr>
                        <a:t>50</a:t>
                      </a:r>
                      <a:endParaRPr lang="de-DE" altLang="en-US">
                        <a:latin typeface="Calibri" panose="020F0502020204030204" charset="0"/>
                      </a:endParaRPr>
                    </a:p>
                  </a:txBody>
                  <a:tcPr/>
                </a:tc>
                <a:tc>
                  <a:txBody>
                    <a:bodyPr/>
                    <a:p>
                      <a:pPr>
                        <a:buNone/>
                      </a:pPr>
                      <a:r>
                        <a:rPr lang="de-DE" altLang="en-US">
                          <a:latin typeface="Calibri" panose="020F0502020204030204" charset="0"/>
                        </a:rPr>
                        <a:t>8</a:t>
                      </a:r>
                      <a:endParaRPr lang="de-DE" altLang="en-US">
                        <a:latin typeface="Calibri" panose="020F0502020204030204" charset="0"/>
                      </a:endParaRPr>
                    </a:p>
                  </a:txBody>
                  <a:tcPr/>
                </a:tc>
                <a:tc>
                  <a:txBody>
                    <a:bodyPr/>
                    <a:p>
                      <a:pPr>
                        <a:buNone/>
                      </a:pPr>
                      <a:r>
                        <a:rPr lang="de-DE" altLang="en-US">
                          <a:latin typeface="Calibri" panose="020F0502020204030204" charset="0"/>
                        </a:rPr>
                        <a:t>0,92</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0,957</a:t>
                      </a:r>
                      <a:endParaRPr lang="de-DE" altLang="en-US">
                        <a:latin typeface="Calibri" panose="020F0502020204030204" charset="0"/>
                      </a:endParaRPr>
                    </a:p>
                  </a:txBody>
                  <a:tcPr/>
                </a:tc>
              </a:tr>
              <a:tr h="394335">
                <a:tc>
                  <a:txBody>
                    <a:bodyPr/>
                    <a:p>
                      <a:pPr>
                        <a:buNone/>
                      </a:pPr>
                      <a:r>
                        <a:rPr lang="de-DE" altLang="en-US" b="0">
                          <a:latin typeface="Calibri" panose="020F0502020204030204" charset="0"/>
                        </a:rPr>
                        <a:t>5</a:t>
                      </a:r>
                      <a:endParaRPr lang="de-DE" altLang="en-US" b="0">
                        <a:latin typeface="Calibri" panose="020F0502020204030204" charset="0"/>
                      </a:endParaRPr>
                    </a:p>
                  </a:txBody>
                  <a:tcPr/>
                </a:tc>
                <a:tc>
                  <a:txBody>
                    <a:bodyPr/>
                    <a:p>
                      <a:pPr>
                        <a:buNone/>
                      </a:pPr>
                      <a:r>
                        <a:rPr lang="de-DE" altLang="en-US" b="0">
                          <a:latin typeface="Calibri" panose="020F0502020204030204" charset="0"/>
                        </a:rPr>
                        <a:t>50</a:t>
                      </a:r>
                      <a:endParaRPr lang="de-DE" altLang="en-US" b="0">
                        <a:latin typeface="Calibri" panose="020F0502020204030204" charset="0"/>
                      </a:endParaRPr>
                    </a:p>
                  </a:txBody>
                  <a:tcPr/>
                </a:tc>
                <a:tc>
                  <a:txBody>
                    <a:bodyPr/>
                    <a:p>
                      <a:pPr>
                        <a:buNone/>
                      </a:pPr>
                      <a:r>
                        <a:rPr lang="de-DE" altLang="en-US" b="0">
                          <a:latin typeface="Calibri" panose="020F0502020204030204" charset="0"/>
                        </a:rPr>
                        <a:t>16</a:t>
                      </a:r>
                      <a:endParaRPr lang="de-DE" altLang="en-US" b="0">
                        <a:latin typeface="Calibri" panose="020F0502020204030204" charset="0"/>
                      </a:endParaRPr>
                    </a:p>
                  </a:txBody>
                  <a:tcPr/>
                </a:tc>
                <a:tc>
                  <a:txBody>
                    <a:bodyPr/>
                    <a:p>
                      <a:pPr>
                        <a:buNone/>
                      </a:pPr>
                      <a:r>
                        <a:rPr lang="de-DE" altLang="en-US" b="0">
                          <a:latin typeface="Calibri" panose="020F0502020204030204" charset="0"/>
                        </a:rPr>
                        <a:t>0,91</a:t>
                      </a:r>
                      <a:endParaRPr lang="de-DE" altLang="en-US" b="0">
                        <a:latin typeface="Calibri" panose="020F0502020204030204" charset="0"/>
                      </a:endParaRPr>
                    </a:p>
                  </a:txBody>
                  <a:tcPr/>
                </a:tc>
                <a:tc>
                  <a:txBody>
                    <a:bodyPr/>
                    <a:p>
                      <a:pPr>
                        <a:buNone/>
                      </a:pPr>
                      <a:r>
                        <a:rPr lang="de-DE" altLang="en-US" b="0">
                          <a:latin typeface="Calibri" panose="020F0502020204030204" charset="0"/>
                        </a:rPr>
                        <a:t>1</a:t>
                      </a:r>
                      <a:endParaRPr lang="de-DE" altLang="en-US" b="0">
                        <a:latin typeface="Calibri" panose="020F0502020204030204" charset="0"/>
                      </a:endParaRPr>
                    </a:p>
                  </a:txBody>
                  <a:tcPr/>
                </a:tc>
                <a:tc>
                  <a:txBody>
                    <a:bodyPr/>
                    <a:p>
                      <a:pPr>
                        <a:buNone/>
                      </a:pPr>
                      <a:r>
                        <a:rPr lang="de-DE" altLang="en-US" b="0">
                          <a:latin typeface="Calibri" panose="020F0502020204030204" charset="0"/>
                        </a:rPr>
                        <a:t>0,953</a:t>
                      </a:r>
                      <a:endParaRPr lang="de-DE" altLang="en-US" b="0">
                        <a:latin typeface="Calibri" panose="020F0502020204030204" charset="0"/>
                      </a:endParaRPr>
                    </a:p>
                  </a:txBody>
                  <a:tcPr/>
                </a:tc>
              </a:tr>
              <a:tr h="394970">
                <a:tc>
                  <a:txBody>
                    <a:bodyPr/>
                    <a:p>
                      <a:pPr>
                        <a:buNone/>
                      </a:pPr>
                      <a:r>
                        <a:rPr lang="de-DE" altLang="en-US">
                          <a:latin typeface="Calibri" panose="020F0502020204030204" charset="0"/>
                        </a:rPr>
                        <a:t>6</a:t>
                      </a:r>
                      <a:endParaRPr lang="de-DE" altLang="en-US">
                        <a:latin typeface="Calibri" panose="020F0502020204030204" charset="0"/>
                      </a:endParaRPr>
                    </a:p>
                  </a:txBody>
                  <a:tcPr/>
                </a:tc>
                <a:tc>
                  <a:txBody>
                    <a:bodyPr/>
                    <a:p>
                      <a:pPr>
                        <a:buNone/>
                      </a:pPr>
                      <a:r>
                        <a:rPr lang="de-DE" altLang="en-US">
                          <a:latin typeface="Calibri" panose="020F0502020204030204" charset="0"/>
                        </a:rPr>
                        <a:t>50</a:t>
                      </a:r>
                      <a:endParaRPr lang="de-DE" altLang="en-US">
                        <a:latin typeface="Calibri" panose="020F0502020204030204" charset="0"/>
                      </a:endParaRPr>
                    </a:p>
                  </a:txBody>
                  <a:tcPr/>
                </a:tc>
                <a:tc>
                  <a:txBody>
                    <a:bodyPr/>
                    <a:p>
                      <a:pPr>
                        <a:buNone/>
                      </a:pPr>
                      <a:r>
                        <a:rPr lang="de-DE" altLang="en-US">
                          <a:latin typeface="Calibri" panose="020F0502020204030204" charset="0"/>
                        </a:rPr>
                        <a:t>32</a:t>
                      </a:r>
                      <a:endParaRPr lang="de-DE" altLang="en-US">
                        <a:latin typeface="Calibri" panose="020F0502020204030204" charset="0"/>
                      </a:endParaRPr>
                    </a:p>
                  </a:txBody>
                  <a:tcPr/>
                </a:tc>
                <a:tc>
                  <a:txBody>
                    <a:bodyPr/>
                    <a:p>
                      <a:pPr>
                        <a:buNone/>
                      </a:pPr>
                      <a:r>
                        <a:rPr lang="de-DE" altLang="en-US">
                          <a:latin typeface="Calibri" panose="020F0502020204030204" charset="0"/>
                        </a:rPr>
                        <a:t>0,89</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0,942</a:t>
                      </a:r>
                      <a:endParaRPr lang="de-DE" altLang="en-US">
                        <a:latin typeface="Calibri" panose="020F0502020204030204" charset="0"/>
                      </a:endParaRPr>
                    </a:p>
                  </a:txBody>
                  <a:tcPr/>
                </a:tc>
              </a:tr>
              <a:tr h="393700">
                <a:tc>
                  <a:txBody>
                    <a:bodyPr/>
                    <a:p>
                      <a:pPr>
                        <a:buNone/>
                      </a:pPr>
                      <a:r>
                        <a:rPr lang="de-DE" altLang="en-US">
                          <a:latin typeface="Calibri" panose="020F0502020204030204" charset="0"/>
                        </a:rPr>
                        <a:t>7</a:t>
                      </a:r>
                      <a:endParaRPr lang="de-DE" altLang="en-US">
                        <a:latin typeface="Calibri" panose="020F0502020204030204" charset="0"/>
                      </a:endParaRPr>
                    </a:p>
                  </a:txBody>
                  <a:tcPr/>
                </a:tc>
                <a:tc>
                  <a:txBody>
                    <a:bodyPr/>
                    <a:p>
                      <a:pPr>
                        <a:buNone/>
                      </a:pPr>
                      <a:r>
                        <a:rPr lang="de-DE" altLang="en-US">
                          <a:latin typeface="Calibri" panose="020F0502020204030204" charset="0"/>
                        </a:rPr>
                        <a:t>100</a:t>
                      </a:r>
                      <a:endParaRPr lang="de-DE" altLang="en-US">
                        <a:latin typeface="Calibri" panose="020F0502020204030204" charset="0"/>
                      </a:endParaRPr>
                    </a:p>
                  </a:txBody>
                  <a:tcPr/>
                </a:tc>
                <a:tc>
                  <a:txBody>
                    <a:bodyPr/>
                    <a:p>
                      <a:pPr>
                        <a:buNone/>
                      </a:pPr>
                      <a:r>
                        <a:rPr lang="de-DE" altLang="en-US">
                          <a:latin typeface="Calibri" panose="020F0502020204030204" charset="0"/>
                        </a:rPr>
                        <a:t>8</a:t>
                      </a:r>
                      <a:endParaRPr lang="de-DE" altLang="en-US">
                        <a:latin typeface="Calibri" panose="020F0502020204030204" charset="0"/>
                      </a:endParaRPr>
                    </a:p>
                  </a:txBody>
                  <a:tcPr/>
                </a:tc>
                <a:tc>
                  <a:txBody>
                    <a:bodyPr/>
                    <a:p>
                      <a:pPr>
                        <a:buNone/>
                      </a:pPr>
                      <a:r>
                        <a:rPr lang="de-DE" altLang="en-US">
                          <a:latin typeface="Calibri" panose="020F0502020204030204" charset="0"/>
                        </a:rPr>
                        <a:t>0,95</a:t>
                      </a:r>
                      <a:endParaRPr lang="de-DE" altLang="en-US">
                        <a:latin typeface="Calibri" panose="020F0502020204030204" charset="0"/>
                      </a:endParaRPr>
                    </a:p>
                  </a:txBody>
                  <a:tcPr/>
                </a:tc>
                <a:tc>
                  <a:txBody>
                    <a:bodyPr/>
                    <a:p>
                      <a:pPr>
                        <a:buNone/>
                      </a:pPr>
                      <a:r>
                        <a:rPr lang="de-DE" altLang="en-US">
                          <a:latin typeface="Calibri" panose="020F0502020204030204" charset="0"/>
                        </a:rPr>
                        <a:t>0,98</a:t>
                      </a:r>
                      <a:endParaRPr lang="de-DE" altLang="en-US">
                        <a:latin typeface="Calibri" panose="020F0502020204030204" charset="0"/>
                      </a:endParaRPr>
                    </a:p>
                  </a:txBody>
                  <a:tcPr/>
                </a:tc>
                <a:tc>
                  <a:txBody>
                    <a:bodyPr/>
                    <a:p>
                      <a:pPr>
                        <a:buNone/>
                      </a:pPr>
                      <a:r>
                        <a:rPr lang="de-DE" altLang="en-US">
                          <a:latin typeface="Calibri" panose="020F0502020204030204" charset="0"/>
                        </a:rPr>
                        <a:t>0,967</a:t>
                      </a:r>
                      <a:endParaRPr lang="de-DE" altLang="en-US">
                        <a:latin typeface="Calibri" panose="020F0502020204030204" charset="0"/>
                      </a:endParaRPr>
                    </a:p>
                  </a:txBody>
                  <a:tcPr/>
                </a:tc>
              </a:tr>
              <a:tr h="394970">
                <a:tc>
                  <a:txBody>
                    <a:bodyPr/>
                    <a:p>
                      <a:pPr>
                        <a:buNone/>
                      </a:pPr>
                      <a:r>
                        <a:rPr lang="de-DE" altLang="en-US">
                          <a:latin typeface="Calibri" panose="020F0502020204030204" charset="0"/>
                        </a:rPr>
                        <a:t>8</a:t>
                      </a:r>
                      <a:endParaRPr lang="de-DE" altLang="en-US">
                        <a:latin typeface="Calibri" panose="020F0502020204030204" charset="0"/>
                      </a:endParaRPr>
                    </a:p>
                  </a:txBody>
                  <a:tcPr/>
                </a:tc>
                <a:tc>
                  <a:txBody>
                    <a:bodyPr/>
                    <a:p>
                      <a:pPr>
                        <a:buNone/>
                      </a:pPr>
                      <a:r>
                        <a:rPr lang="de-DE" altLang="en-US">
                          <a:latin typeface="Calibri" panose="020F0502020204030204" charset="0"/>
                        </a:rPr>
                        <a:t>100</a:t>
                      </a:r>
                      <a:endParaRPr lang="de-DE" altLang="en-US">
                        <a:latin typeface="Calibri" panose="020F0502020204030204" charset="0"/>
                      </a:endParaRPr>
                    </a:p>
                  </a:txBody>
                  <a:tcPr/>
                </a:tc>
                <a:tc>
                  <a:txBody>
                    <a:bodyPr/>
                    <a:p>
                      <a:pPr>
                        <a:buNone/>
                      </a:pPr>
                      <a:r>
                        <a:rPr lang="de-DE" altLang="en-US">
                          <a:latin typeface="Calibri" panose="020F0502020204030204" charset="0"/>
                        </a:rPr>
                        <a:t>16</a:t>
                      </a:r>
                      <a:endParaRPr lang="de-DE" altLang="en-US">
                        <a:latin typeface="Calibri" panose="020F0502020204030204" charset="0"/>
                      </a:endParaRPr>
                    </a:p>
                  </a:txBody>
                  <a:tcPr/>
                </a:tc>
                <a:tc>
                  <a:txBody>
                    <a:bodyPr/>
                    <a:p>
                      <a:pPr>
                        <a:buNone/>
                      </a:pPr>
                      <a:r>
                        <a:rPr lang="de-DE" altLang="en-US">
                          <a:latin typeface="Calibri" panose="020F0502020204030204" charset="0"/>
                        </a:rPr>
                        <a:t>0,92</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0,954</a:t>
                      </a:r>
                      <a:endParaRPr lang="de-DE" altLang="en-US">
                        <a:latin typeface="Calibri" panose="020F0502020204030204" charset="0"/>
                      </a:endParaRPr>
                    </a:p>
                  </a:txBody>
                  <a:tcPr/>
                </a:tc>
              </a:tr>
              <a:tr h="394335">
                <a:tc>
                  <a:txBody>
                    <a:bodyPr/>
                    <a:p>
                      <a:pPr>
                        <a:buNone/>
                      </a:pPr>
                      <a:r>
                        <a:rPr lang="de-DE" altLang="en-US">
                          <a:latin typeface="Calibri" panose="020F0502020204030204" charset="0"/>
                        </a:rPr>
                        <a:t>9</a:t>
                      </a:r>
                      <a:endParaRPr lang="de-DE" altLang="en-US">
                        <a:latin typeface="Calibri" panose="020F0502020204030204" charset="0"/>
                      </a:endParaRPr>
                    </a:p>
                  </a:txBody>
                  <a:tcPr/>
                </a:tc>
                <a:tc>
                  <a:txBody>
                    <a:bodyPr/>
                    <a:p>
                      <a:pPr>
                        <a:buNone/>
                      </a:pPr>
                      <a:r>
                        <a:rPr lang="de-DE" altLang="en-US">
                          <a:latin typeface="Calibri" panose="020F0502020204030204" charset="0"/>
                        </a:rPr>
                        <a:t>100</a:t>
                      </a:r>
                      <a:endParaRPr lang="de-DE" altLang="en-US">
                        <a:latin typeface="Calibri" panose="020F0502020204030204" charset="0"/>
                      </a:endParaRPr>
                    </a:p>
                  </a:txBody>
                  <a:tcPr/>
                </a:tc>
                <a:tc>
                  <a:txBody>
                    <a:bodyPr/>
                    <a:p>
                      <a:pPr>
                        <a:buNone/>
                      </a:pPr>
                      <a:r>
                        <a:rPr lang="de-DE" altLang="en-US">
                          <a:latin typeface="Calibri" panose="020F0502020204030204" charset="0"/>
                        </a:rPr>
                        <a:t>32</a:t>
                      </a:r>
                      <a:endParaRPr lang="de-DE" altLang="en-US">
                        <a:latin typeface="Calibri" panose="020F0502020204030204" charset="0"/>
                      </a:endParaRPr>
                    </a:p>
                  </a:txBody>
                  <a:tcPr/>
                </a:tc>
                <a:tc>
                  <a:txBody>
                    <a:bodyPr/>
                    <a:p>
                      <a:pPr>
                        <a:buNone/>
                      </a:pPr>
                      <a:r>
                        <a:rPr lang="de-DE" altLang="en-US">
                          <a:latin typeface="Calibri" panose="020F0502020204030204" charset="0"/>
                        </a:rPr>
                        <a:t>0,93</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0,958</a:t>
                      </a:r>
                      <a:endParaRPr lang="de-DE" altLang="en-US">
                        <a:latin typeface="Calibri" panose="020F0502020204030204" charset="0"/>
                      </a:endParaRPr>
                    </a:p>
                  </a:txBody>
                  <a:tcPr/>
                </a:tc>
              </a:tr>
            </a:tbl>
          </a:graphicData>
        </a:graphic>
      </p:graphicFrame>
      <p:sp>
        <p:nvSpPr>
          <p:cNvPr id="8" name="Text Box 7"/>
          <p:cNvSpPr txBox="1"/>
          <p:nvPr/>
        </p:nvSpPr>
        <p:spPr>
          <a:xfrm>
            <a:off x="511810" y="6200775"/>
            <a:ext cx="10700385" cy="583565"/>
          </a:xfrm>
          <a:prstGeom prst="rect">
            <a:avLst/>
          </a:prstGeom>
          <a:noFill/>
        </p:spPr>
        <p:txBody>
          <a:bodyPr wrap="square" rtlCol="0">
            <a:spAutoFit/>
          </a:bodyPr>
          <a:p>
            <a:r>
              <a:rPr lang="en-US" altLang="en-US" sz="1600" b="1"/>
              <a:t>Epoch:</a:t>
            </a:r>
            <a:r>
              <a:rPr lang="en-US" altLang="en-US" sz="1600"/>
              <a:t> One full pass of the entire training dataset.</a:t>
            </a:r>
            <a:endParaRPr lang="en-US" altLang="en-US" sz="1600"/>
          </a:p>
          <a:p>
            <a:r>
              <a:rPr lang="en-US" altLang="en-US" sz="1600" b="1"/>
              <a:t>Batch:</a:t>
            </a:r>
            <a:r>
              <a:rPr lang="en-US" altLang="en-US" sz="1600"/>
              <a:t> A small </a:t>
            </a:r>
            <a:r>
              <a:rPr lang="de-DE" altLang="en-US" sz="1600">
                <a:latin typeface="Calibri" panose="020F0502020204030204" charset="0"/>
              </a:rPr>
              <a:t>subset of dataset </a:t>
            </a:r>
            <a:r>
              <a:rPr lang="en-US" altLang="en-US" sz="1600"/>
              <a:t>processed together before updating the model.</a:t>
            </a:r>
            <a:endParaRPr lang="en-US" alt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365125"/>
            <a:ext cx="11438890" cy="1325880"/>
          </a:xfrm>
        </p:spPr>
        <p:txBody>
          <a:bodyPr/>
          <a:p>
            <a:r>
              <a:rPr lang="de-DE" altLang="en-US" sz="2000">
                <a:latin typeface="Calibri" panose="020F0502020204030204" charset="0"/>
              </a:rPr>
              <a:t>Confusion Matrix of the model for bounding box algorithm (epoch=20, batch=32, conf=0,3)</a:t>
            </a:r>
            <a:endParaRPr lang="de-DE" altLang="en-US" sz="2000">
              <a:latin typeface="Calibri" panose="020F0502020204030204" charset="0"/>
            </a:endParaRPr>
          </a:p>
        </p:txBody>
      </p:sp>
      <p:pic>
        <p:nvPicPr>
          <p:cNvPr id="4" name="Picture 3" descr="confusion_matrix (12)"/>
          <p:cNvPicPr>
            <a:picLocks noChangeAspect="1"/>
          </p:cNvPicPr>
          <p:nvPr/>
        </p:nvPicPr>
        <p:blipFill>
          <a:blip r:embed="rId1"/>
          <a:stretch>
            <a:fillRect/>
          </a:stretch>
        </p:blipFill>
        <p:spPr>
          <a:xfrm>
            <a:off x="3183890" y="1691005"/>
            <a:ext cx="5824220" cy="43681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sz="2400">
                <a:latin typeface="Calibri" panose="020F0502020204030204" charset="0"/>
                <a:sym typeface="+mn-ea"/>
              </a:rPr>
              <a:t>Results of the model for bounding box algorithm (epoch=20, batch=32, conf=0,3)</a:t>
            </a:r>
            <a:endParaRPr lang="de-DE" altLang="en-US" sz="2400">
              <a:latin typeface="Calibri" panose="020F0502020204030204" charset="0"/>
              <a:sym typeface="+mn-ea"/>
            </a:endParaRPr>
          </a:p>
        </p:txBody>
      </p:sp>
      <p:sp>
        <p:nvSpPr>
          <p:cNvPr id="3" name="Content Placeholder 2"/>
          <p:cNvSpPr>
            <a:spLocks noGrp="1"/>
          </p:cNvSpPr>
          <p:nvPr>
            <p:ph idx="1"/>
          </p:nvPr>
        </p:nvSpPr>
        <p:spPr/>
        <p:txBody>
          <a:bodyPr/>
          <a:p>
            <a:endParaRPr lang="en-US"/>
          </a:p>
        </p:txBody>
      </p:sp>
      <p:pic>
        <p:nvPicPr>
          <p:cNvPr id="4" name="Picture 3" descr="results (11)"/>
          <p:cNvPicPr>
            <a:picLocks noChangeAspect="1"/>
          </p:cNvPicPr>
          <p:nvPr/>
        </p:nvPicPr>
        <p:blipFill>
          <a:blip r:embed="rId1"/>
          <a:stretch>
            <a:fillRect/>
          </a:stretch>
        </p:blipFill>
        <p:spPr>
          <a:xfrm>
            <a:off x="1061085" y="1338580"/>
            <a:ext cx="10069195" cy="50349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147320"/>
            <a:ext cx="10515600" cy="1325563"/>
          </a:xfrm>
        </p:spPr>
        <p:txBody>
          <a:bodyPr/>
          <a:p>
            <a:r>
              <a:rPr lang="de-DE" altLang="en-US" sz="3200">
                <a:latin typeface="Calibri" panose="020F0502020204030204" charset="0"/>
              </a:rPr>
              <a:t>Current Dataset with Numbers</a:t>
            </a:r>
            <a:endParaRPr lang="de-DE" altLang="en-US" sz="3200">
              <a:latin typeface="Calibri" panose="020F0502020204030204" charset="0"/>
            </a:endParaRPr>
          </a:p>
        </p:txBody>
      </p:sp>
      <p:sp>
        <p:nvSpPr>
          <p:cNvPr id="3" name="Content Placeholder 2"/>
          <p:cNvSpPr>
            <a:spLocks noGrp="1"/>
          </p:cNvSpPr>
          <p:nvPr>
            <p:ph idx="1"/>
          </p:nvPr>
        </p:nvSpPr>
        <p:spPr>
          <a:xfrm>
            <a:off x="838200" y="864870"/>
            <a:ext cx="11095355" cy="5906770"/>
          </a:xfrm>
        </p:spPr>
        <p:txBody>
          <a:bodyPr>
            <a:normAutofit lnSpcReduction="10000"/>
          </a:bodyPr>
          <a:p>
            <a:pPr marL="0" indent="0">
              <a:buNone/>
            </a:pPr>
            <a:endParaRPr lang="de-DE" altLang="en-US">
              <a:latin typeface="Calibri" panose="020F0502020204030204" charset="0"/>
            </a:endParaRPr>
          </a:p>
          <a:p>
            <a:r>
              <a:rPr lang="de-DE" altLang="en-US" sz="2200">
                <a:latin typeface="Calibri" panose="020F0502020204030204" charset="0"/>
              </a:rPr>
              <a:t>831 images </a:t>
            </a:r>
            <a:r>
              <a:rPr lang="en-US" altLang="en-US" sz="2200">
                <a:sym typeface="+mn-ea"/>
              </a:rPr>
              <a:t>→</a:t>
            </a:r>
            <a:r>
              <a:rPr lang="de-DE" altLang="en-US" sz="2200">
                <a:latin typeface="Calibri" panose="020F0502020204030204" charset="0"/>
                <a:sym typeface="+mn-ea"/>
              </a:rPr>
              <a:t> 491 images from healthy people (59%)</a:t>
            </a:r>
            <a:endParaRPr lang="en-US" altLang="en-US" sz="2200">
              <a:sym typeface="+mn-ea"/>
            </a:endParaRPr>
          </a:p>
          <a:p>
            <a:pPr marL="0" indent="0">
              <a:buNone/>
            </a:pPr>
            <a:r>
              <a:rPr lang="de-DE" altLang="en-US" sz="2200">
                <a:latin typeface="Calibri" panose="020F0502020204030204" charset="0"/>
                <a:sym typeface="+mn-ea"/>
              </a:rPr>
              <a:t>                         </a:t>
            </a:r>
            <a:r>
              <a:rPr lang="en-US" altLang="en-US" sz="2200">
                <a:sym typeface="+mn-ea"/>
              </a:rPr>
              <a:t>→</a:t>
            </a:r>
            <a:r>
              <a:rPr lang="de-DE" altLang="en-US" sz="2200">
                <a:latin typeface="Calibri" panose="020F0502020204030204" charset="0"/>
                <a:sym typeface="+mn-ea"/>
              </a:rPr>
              <a:t> 340 images from people with nail melanoma (41%)</a:t>
            </a:r>
            <a:endParaRPr lang="de-DE" altLang="en-US" sz="2200">
              <a:latin typeface="Calibri" panose="020F0502020204030204" charset="0"/>
              <a:sym typeface="+mn-ea"/>
            </a:endParaRPr>
          </a:p>
          <a:p>
            <a:pPr marL="0" indent="0">
              <a:buNone/>
            </a:pPr>
            <a:r>
              <a:rPr lang="de-DE" altLang="en-US" sz="2200">
                <a:latin typeface="Calibri" panose="020F0502020204030204" charset="0"/>
                <a:sym typeface="+mn-ea"/>
              </a:rPr>
              <a:t>                         </a:t>
            </a:r>
            <a:r>
              <a:rPr lang="en-US" altLang="en-US" sz="2200">
                <a:sym typeface="+mn-ea"/>
              </a:rPr>
              <a:t>→</a:t>
            </a:r>
            <a:r>
              <a:rPr lang="de-DE" altLang="en-US" sz="2200">
                <a:latin typeface="Calibri" panose="020F0502020204030204" charset="0"/>
                <a:sym typeface="+mn-ea"/>
              </a:rPr>
              <a:t> 1381 </a:t>
            </a:r>
            <a:r>
              <a:rPr lang="de-DE" altLang="en-US" sz="2200">
                <a:latin typeface="Calibri" panose="020F0502020204030204" charset="0"/>
                <a:cs typeface="Calibri" panose="020F0502020204030204" charset="0"/>
                <a:sym typeface="+mn-ea"/>
              </a:rPr>
              <a:t>nails in total (847 healthy nails, 534 melanoma nails)</a:t>
            </a:r>
            <a:endParaRPr lang="de-DE" altLang="en-US" sz="2200">
              <a:latin typeface="Calibri" panose="020F0502020204030204" charset="0"/>
              <a:cs typeface="Calibri" panose="020F0502020204030204" charset="0"/>
              <a:sym typeface="+mn-ea"/>
            </a:endParaRPr>
          </a:p>
          <a:p>
            <a:pPr marL="0" indent="0">
              <a:buNone/>
            </a:pPr>
            <a:endParaRPr lang="de-DE" altLang="en-US" sz="2200">
              <a:latin typeface="Calibri" panose="020F0502020204030204" charset="0"/>
              <a:cs typeface="Calibri" panose="020F0502020204030204" charset="0"/>
              <a:sym typeface="+mn-ea"/>
            </a:endParaRPr>
          </a:p>
          <a:p>
            <a:r>
              <a:rPr lang="de-DE" altLang="en-US" sz="2200">
                <a:latin typeface="Calibri" panose="020F0502020204030204" charset="0"/>
                <a:sym typeface="+mn-ea"/>
              </a:rPr>
              <a:t>Bounding Box Algorithm could detect </a:t>
            </a:r>
            <a:r>
              <a:rPr lang="de-DE" altLang="en-US" sz="2200" b="1">
                <a:latin typeface="Calibri" panose="020F0502020204030204" charset="0"/>
                <a:sym typeface="+mn-ea"/>
              </a:rPr>
              <a:t>1462 nails   </a:t>
            </a:r>
            <a:r>
              <a:rPr lang="en-US" altLang="en-US" sz="2200">
                <a:sym typeface="+mn-ea"/>
              </a:rPr>
              <a:t>→</a:t>
            </a:r>
            <a:r>
              <a:rPr lang="de-DE" altLang="en-US" sz="2200">
                <a:latin typeface="Calibri" panose="020F0502020204030204" charset="0"/>
                <a:sym typeface="+mn-ea"/>
              </a:rPr>
              <a:t> 883 healthy</a:t>
            </a:r>
            <a:endParaRPr lang="de-DE" altLang="en-US" sz="2200" b="1">
              <a:latin typeface="Calibri" panose="020F0502020204030204" charset="0"/>
              <a:sym typeface="+mn-ea"/>
            </a:endParaRPr>
          </a:p>
          <a:p>
            <a:pPr marL="0" indent="0">
              <a:buNone/>
            </a:pPr>
            <a:r>
              <a:rPr lang="de-DE" altLang="en-US" sz="2200" b="1">
                <a:latin typeface="Calibri" panose="020F0502020204030204" charset="0"/>
                <a:sym typeface="+mn-ea"/>
              </a:rPr>
              <a:t>                                                                                             </a:t>
            </a:r>
            <a:r>
              <a:rPr lang="en-US" altLang="en-US" sz="2200">
                <a:sym typeface="+mn-ea"/>
              </a:rPr>
              <a:t>→</a:t>
            </a:r>
            <a:r>
              <a:rPr lang="de-DE" altLang="en-US" sz="2200">
                <a:latin typeface="Calibri" panose="020F0502020204030204" charset="0"/>
                <a:sym typeface="+mn-ea"/>
              </a:rPr>
              <a:t> 579 melanoma</a:t>
            </a:r>
            <a:endParaRPr lang="de-DE" altLang="en-US" sz="2200">
              <a:latin typeface="Calibri" panose="020F0502020204030204" charset="0"/>
              <a:sym typeface="+mn-ea"/>
            </a:endParaRPr>
          </a:p>
          <a:p>
            <a:pPr marL="0" indent="0">
              <a:buNone/>
            </a:pPr>
            <a:endParaRPr lang="de-DE" altLang="en-US" sz="2200" b="1">
              <a:latin typeface="Calibri" panose="020F0502020204030204" charset="0"/>
              <a:sym typeface="+mn-ea"/>
            </a:endParaRPr>
          </a:p>
          <a:p>
            <a:r>
              <a:rPr lang="de-DE" altLang="en-US" sz="2200" b="1">
                <a:latin typeface="Calibri" panose="020F0502020204030204" charset="0"/>
                <a:sym typeface="+mn-ea"/>
              </a:rPr>
              <a:t>According to the results from bounding box:</a:t>
            </a:r>
            <a:r>
              <a:rPr lang="de-DE" altLang="en-US" sz="2200">
                <a:latin typeface="Calibri" panose="020F0502020204030204" charset="0"/>
                <a:sym typeface="+mn-ea"/>
              </a:rPr>
              <a:t> 7 false negative</a:t>
            </a:r>
            <a:endParaRPr lang="de-DE" altLang="en-US" sz="2200">
              <a:latin typeface="Calibri" panose="020F0502020204030204" charset="0"/>
              <a:sym typeface="+mn-ea"/>
            </a:endParaRPr>
          </a:p>
          <a:p>
            <a:pPr marL="0" indent="0">
              <a:buNone/>
            </a:pPr>
            <a:r>
              <a:rPr lang="de-DE" altLang="en-US" sz="2200">
                <a:latin typeface="Calibri" panose="020F0502020204030204" charset="0"/>
                <a:sym typeface="+mn-ea"/>
              </a:rPr>
              <a:t>                                                                                     17 false positive</a:t>
            </a:r>
            <a:endParaRPr lang="de-DE" altLang="en-US" sz="2200">
              <a:latin typeface="Calibri" panose="020F0502020204030204" charset="0"/>
              <a:sym typeface="+mn-ea"/>
            </a:endParaRPr>
          </a:p>
          <a:p>
            <a:pPr marL="0" indent="0">
              <a:buNone/>
            </a:pPr>
            <a:endParaRPr lang="de-DE" altLang="en-US" sz="2200">
              <a:latin typeface="Calibri" panose="020F0502020204030204" charset="0"/>
              <a:sym typeface="+mn-ea"/>
            </a:endParaRPr>
          </a:p>
          <a:p>
            <a:r>
              <a:rPr lang="de-DE" altLang="en-US" sz="2200" b="1">
                <a:latin typeface="Calibri" panose="020F0502020204030204" charset="0"/>
                <a:sym typeface="+mn-ea"/>
              </a:rPr>
              <a:t>Reason why 883 detected healthy nails &gt; 847 labeled healthy nails:</a:t>
            </a:r>
            <a:r>
              <a:rPr lang="de-DE" altLang="en-US" sz="2200">
                <a:latin typeface="Calibri" panose="020F0502020204030204" charset="0"/>
                <a:sym typeface="+mn-ea"/>
              </a:rPr>
              <a:t> While creating the dataset, thumbs and some of the fingers were not labeled due to their positions, in case they could confuse the training of the model. However, on some images, those unlabeled nails were successfully detected by the model</a:t>
            </a:r>
            <a:endParaRPr lang="de-DE" altLang="en-US" sz="2200">
              <a:latin typeface="Calibri" panose="020F0502020204030204" charset="0"/>
              <a:sym typeface="+mn-ea"/>
            </a:endParaRPr>
          </a:p>
          <a:p>
            <a:pPr marL="0" indent="0">
              <a:buNone/>
            </a:pPr>
            <a:endParaRPr lang="de-DE" altLang="en-US" sz="2200">
              <a:latin typeface="Calibri" panose="020F0502020204030204" charset="0"/>
              <a:sym typeface="+mn-ea"/>
            </a:endParaRPr>
          </a:p>
        </p:txBody>
      </p:sp>
      <p:sp>
        <p:nvSpPr>
          <p:cNvPr id="4" name="Right Brace 3"/>
          <p:cNvSpPr/>
          <p:nvPr/>
        </p:nvSpPr>
        <p:spPr>
          <a:xfrm>
            <a:off x="8919210" y="2821305"/>
            <a:ext cx="321310" cy="1109980"/>
          </a:xfrm>
          <a:prstGeom prst="rightBrace">
            <a:avLst/>
          </a:prstGeom>
          <a:ln w="31750">
            <a:gradFill>
              <a:gsLst>
                <a:gs pos="0">
                  <a:prstClr val="black">
                    <a:hueOff val="-4200000"/>
                  </a:prstClr>
                </a:gs>
                <a:gs pos="100000">
                  <a:prstClr val="black"/>
                </a:gs>
              </a:gsLst>
            </a:gradFill>
          </a:ln>
        </p:spPr>
        <p:style>
          <a:lnRef idx="0">
            <a:srgbClr val="FFFFFF"/>
          </a:lnRef>
          <a:fillRef idx="0">
            <a:srgbClr val="FFFFFF"/>
          </a:fillRef>
          <a:effectRef idx="0">
            <a:srgbClr val="FFFFFF"/>
          </a:effectRef>
          <a:fontRef idx="minor">
            <a:schemeClr val="tx1"/>
          </a:fontRef>
        </p:style>
        <p:txBody>
          <a:bodyPr rtlCol="0" anchor="ctr"/>
          <a:p>
            <a:pPr algn="ctr"/>
            <a:endParaRPr lang="en-US"/>
          </a:p>
        </p:txBody>
      </p:sp>
      <p:sp>
        <p:nvSpPr>
          <p:cNvPr id="5" name="Text Box 4"/>
          <p:cNvSpPr txBox="1"/>
          <p:nvPr/>
        </p:nvSpPr>
        <p:spPr>
          <a:xfrm>
            <a:off x="9342755" y="3060065"/>
            <a:ext cx="2590800" cy="737235"/>
          </a:xfrm>
          <a:prstGeom prst="rect">
            <a:avLst/>
          </a:prstGeom>
          <a:noFill/>
        </p:spPr>
        <p:txBody>
          <a:bodyPr wrap="square" rtlCol="0">
            <a:spAutoFit/>
          </a:bodyPr>
          <a:p>
            <a:r>
              <a:rPr lang="de-DE" altLang="en-US" sz="1400">
                <a:latin typeface="Calibri" panose="020F0502020204030204" charset="0"/>
              </a:rPr>
              <a:t>from the excel file (folder names of the images were tracked for the statistical result)</a:t>
            </a:r>
            <a:endParaRPr lang="de-DE" altLang="en-US" sz="1400">
              <a:latin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endParaRPr lang="en-US" altLang="en-US" sz="2400">
              <a:latin typeface="Calibri" panose="020F0502020204030204" charset="0"/>
              <a:cs typeface="Calibri" panose="020F0502020204030204" charset="0"/>
            </a:endParaRPr>
          </a:p>
        </p:txBody>
      </p:sp>
      <p:pic>
        <p:nvPicPr>
          <p:cNvPr id="5" name="Content Placeholder 4"/>
          <p:cNvPicPr>
            <a:picLocks noChangeAspect="1"/>
          </p:cNvPicPr>
          <p:nvPr>
            <p:ph idx="1"/>
          </p:nvPr>
        </p:nvPicPr>
        <p:blipFill>
          <a:blip r:embed="rId1"/>
          <a:stretch>
            <a:fillRect/>
          </a:stretch>
        </p:blipFill>
        <p:spPr>
          <a:xfrm>
            <a:off x="3300095" y="1274445"/>
            <a:ext cx="6227445" cy="4679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graphicFrame>
        <p:nvGraphicFramePr>
          <p:cNvPr id="6" name="Table 5"/>
          <p:cNvGraphicFramePr/>
          <p:nvPr>
            <p:custDataLst>
              <p:tags r:id="rId1"/>
            </p:custDataLst>
          </p:nvPr>
        </p:nvGraphicFramePr>
        <p:xfrm>
          <a:off x="1253490" y="601980"/>
          <a:ext cx="9685020" cy="2603500"/>
        </p:xfrm>
        <a:graphic>
          <a:graphicData uri="http://schemas.openxmlformats.org/drawingml/2006/table">
            <a:tbl>
              <a:tblPr firstRow="1" bandRow="1">
                <a:tableStyleId>{5C22544A-7EE6-4342-B048-85BDC9FD1C3A}</a:tableStyleId>
              </a:tblPr>
              <a:tblGrid>
                <a:gridCol w="1383574"/>
                <a:gridCol w="1383575"/>
                <a:gridCol w="1383574"/>
                <a:gridCol w="1383574"/>
                <a:gridCol w="1383574"/>
                <a:gridCol w="1383575"/>
                <a:gridCol w="1383574"/>
              </a:tblGrid>
              <a:tr h="650875">
                <a:tc>
                  <a:txBody>
                    <a:bodyPr/>
                    <a:p>
                      <a:pPr>
                        <a:buNone/>
                      </a:pPr>
                      <a:endParaRPr lang="en-US">
                        <a:solidFill>
                          <a:schemeClr val="tx1"/>
                        </a:solidFill>
                      </a:endParaRPr>
                    </a:p>
                  </a:txBody>
                  <a:tcPr/>
                </a:tc>
                <a:tc>
                  <a:txBody>
                    <a:bodyPr/>
                    <a:p>
                      <a:pPr>
                        <a:buNone/>
                      </a:pPr>
                      <a:r>
                        <a:rPr lang="de-DE" altLang="en-US">
                          <a:solidFill>
                            <a:schemeClr val="tx1"/>
                          </a:solidFill>
                          <a:latin typeface="Calibri" panose="020F0502020204030204" charset="0"/>
                        </a:rPr>
                        <a:t>Labeled</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Detected</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Difference</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FN</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FP</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TP</a:t>
                      </a:r>
                      <a:endParaRPr lang="de-DE" altLang="en-US">
                        <a:solidFill>
                          <a:schemeClr val="tx1"/>
                        </a:solidFill>
                        <a:latin typeface="Calibri" panose="020F0502020204030204" charset="0"/>
                      </a:endParaRPr>
                    </a:p>
                  </a:txBody>
                  <a:tcPr/>
                </a:tc>
              </a:tr>
              <a:tr h="650875">
                <a:tc>
                  <a:txBody>
                    <a:bodyPr/>
                    <a:p>
                      <a:pPr>
                        <a:buNone/>
                      </a:pPr>
                      <a:r>
                        <a:rPr lang="de-DE" altLang="en-US">
                          <a:solidFill>
                            <a:schemeClr val="tx1"/>
                          </a:solidFill>
                          <a:latin typeface="Calibri" panose="020F0502020204030204" charset="0"/>
                        </a:rPr>
                        <a:t>Healthy</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847</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883</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+36</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7</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883</a:t>
                      </a:r>
                      <a:endParaRPr lang="de-DE" altLang="en-US">
                        <a:solidFill>
                          <a:schemeClr val="tx1"/>
                        </a:solidFill>
                        <a:latin typeface="Calibri" panose="020F0502020204030204" charset="0"/>
                      </a:endParaRPr>
                    </a:p>
                  </a:txBody>
                  <a:tcPr/>
                </a:tc>
              </a:tr>
              <a:tr h="650875">
                <a:tc>
                  <a:txBody>
                    <a:bodyPr/>
                    <a:p>
                      <a:pPr>
                        <a:buNone/>
                      </a:pPr>
                      <a:r>
                        <a:rPr lang="de-DE" altLang="en-US">
                          <a:solidFill>
                            <a:schemeClr val="tx1"/>
                          </a:solidFill>
                          <a:latin typeface="Calibri" panose="020F0502020204030204" charset="0"/>
                        </a:rPr>
                        <a:t>Melanoma</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534</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579</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+45</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17</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562</a:t>
                      </a:r>
                      <a:endParaRPr lang="de-DE" altLang="en-US">
                        <a:solidFill>
                          <a:schemeClr val="tx1"/>
                        </a:solidFill>
                        <a:latin typeface="Calibri" panose="020F0502020204030204" charset="0"/>
                      </a:endParaRPr>
                    </a:p>
                  </a:txBody>
                  <a:tcPr/>
                </a:tc>
              </a:tr>
              <a:tr h="650875">
                <a:tc>
                  <a:txBody>
                    <a:bodyPr/>
                    <a:p>
                      <a:pPr>
                        <a:buNone/>
                      </a:pPr>
                      <a:r>
                        <a:rPr lang="de-DE" altLang="en-US">
                          <a:solidFill>
                            <a:schemeClr val="tx1"/>
                          </a:solidFill>
                          <a:latin typeface="Calibri" panose="020F0502020204030204" charset="0"/>
                        </a:rPr>
                        <a:t>Total</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1381</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1462</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+81</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7</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17</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1445</a:t>
                      </a:r>
                      <a:endParaRPr lang="de-DE" altLang="en-US">
                        <a:solidFill>
                          <a:schemeClr val="tx1"/>
                        </a:solidFill>
                        <a:latin typeface="Calibri" panose="020F0502020204030204" charset="0"/>
                      </a:endParaRPr>
                    </a:p>
                  </a:txBody>
                  <a:tcPr/>
                </a:tc>
              </a:tr>
            </a:tbl>
          </a:graphicData>
        </a:graphic>
      </p:graphicFrame>
      <mc:AlternateContent xmlns:mc="http://schemas.openxmlformats.org/markup-compatibility/2006">
        <mc:Choice xmlns:a14="http://schemas.microsoft.com/office/drawing/2010/main" Requires="a14">
          <p:sp>
            <p:nvSpPr>
              <p:cNvPr id="9" name="Text Box 8"/>
              <p:cNvSpPr txBox="1"/>
              <p:nvPr/>
            </p:nvSpPr>
            <p:spPr>
              <a:xfrm>
                <a:off x="838200" y="3519170"/>
                <a:ext cx="8725535" cy="706120"/>
              </a:xfrm>
              <a:prstGeom prst="rect">
                <a:avLst/>
              </a:prstGeom>
              <a:noFill/>
            </p:spPr>
            <p:txBody>
              <a:bodyPr wrap="square" rtlCol="0">
                <a:spAutoFit/>
              </a:bodyPr>
              <a:p>
                <a:r>
                  <a:rPr lang="en-US" altLang="en-US" sz="2400">
                    <a:latin typeface="Calibri" panose="020F0502020204030204" charset="0"/>
                    <a:cs typeface="Calibri" panose="020F0502020204030204" charset="0"/>
                  </a:rPr>
                  <a:t>Precision</a:t>
                </a:r>
                <a:r>
                  <a:rPr lang="de-DE" altLang="en-US" sz="2400">
                    <a:latin typeface="Calibri" panose="020F0502020204030204" charset="0"/>
                    <a:cs typeface="Calibri" panose="020F0502020204030204" charset="0"/>
                  </a:rPr>
                  <a:t> </a:t>
                </a:r>
                <a:r>
                  <a:rPr lang="en-US" altLang="en-US" sz="2400">
                    <a:latin typeface="Calibri" panose="020F0502020204030204" charset="0"/>
                    <a:cs typeface="Calibri" panose="020F0502020204030204" charset="0"/>
                  </a:rPr>
                  <a:t>=</a:t>
                </a:r>
                <a:r>
                  <a:rPr lang="de-DE" altLang="en-US" sz="2400">
                    <a:latin typeface="Calibri" panose="020F0502020204030204" charset="0"/>
                    <a:cs typeface="Calibri" panose="020F0502020204030204" charset="0"/>
                  </a:rPr>
                  <a:t> </a:t>
                </a:r>
                <a14:m>
                  <m:oMath xmlns:m="http://schemas.openxmlformats.org/officeDocument/2006/math">
                    <m:f>
                      <m:fPr>
                        <m:ctrlPr>
                          <a:rPr lang="en-US" altLang="en-US" sz="2800" i="1">
                            <a:latin typeface="Cambria Math" panose="02040503050406030204" charset="0"/>
                            <a:cs typeface="Cambria Math" panose="02040503050406030204" charset="0"/>
                          </a:rPr>
                        </m:ctrlPr>
                      </m:fPr>
                      <m:num>
                        <m:r>
                          <a:rPr lang="en-US" altLang="en-US" sz="2800" i="1">
                            <a:latin typeface="Cambria Math" panose="02040503050406030204" charset="0"/>
                            <a:cs typeface="Cambria Math" panose="02040503050406030204" charset="0"/>
                          </a:rPr>
                          <m:t>𝑇𝑃</m:t>
                        </m:r>
                      </m:num>
                      <m:den>
                        <m:r>
                          <a:rPr lang="en-US" altLang="en-US" sz="2800" i="1">
                            <a:latin typeface="Cambria Math" panose="02040503050406030204" charset="0"/>
                            <a:cs typeface="Cambria Math" panose="02040503050406030204" charset="0"/>
                          </a:rPr>
                          <m:t>𝑇𝑃</m:t>
                        </m:r>
                        <m:r>
                          <a:rPr lang="en-US" altLang="en-US" sz="2800" i="1">
                            <a:latin typeface="Cambria Math" panose="02040503050406030204" charset="0"/>
                            <a:ea typeface="MS Mincho" charset="0"/>
                            <a:cs typeface="Cambria Math" panose="02040503050406030204" charset="0"/>
                          </a:rPr>
                          <m:t>+</m:t>
                        </m:r>
                        <m:r>
                          <a:rPr lang="en-US" altLang="en-US" sz="2800" i="1">
                            <a:latin typeface="Cambria Math" panose="02040503050406030204" charset="0"/>
                            <a:cs typeface="Cambria Math" panose="02040503050406030204" charset="0"/>
                          </a:rPr>
                          <m:t>𝐹𝑃</m:t>
                        </m:r>
                      </m:den>
                    </m:f>
                    <m:r>
                      <a:rPr lang="en-US" altLang="en-US" sz="2800" i="1">
                        <a:latin typeface="Cambria Math" panose="02040503050406030204" charset="0"/>
                        <a:ea typeface="MS Mincho" charset="0"/>
                        <a:cs typeface="Cambria Math" panose="02040503050406030204" charset="0"/>
                      </a:rPr>
                      <m:t> = </m:t>
                    </m:r>
                    <m:r>
                      <a:rPr lang="en-US" altLang="en-US" sz="2800" i="1">
                        <a:latin typeface="Cambria Math" panose="02040503050406030204" charset="0"/>
                        <a:ea typeface="MS Mincho" charset="0"/>
                        <a:cs typeface="Cambria Math" panose="02040503050406030204" charset="0"/>
                      </a:rPr>
                      <m:t>0</m:t>
                    </m:r>
                    <m:r>
                      <a:rPr lang="en-US" altLang="en-US" sz="2800" i="1">
                        <a:latin typeface="Cambria Math" panose="02040503050406030204" charset="0"/>
                        <a:ea typeface="MS Mincho" charset="0"/>
                        <a:cs typeface="Cambria Math" panose="02040503050406030204" charset="0"/>
                      </a:rPr>
                      <m:t>,</m:t>
                    </m:r>
                    <m:r>
                      <a:rPr lang="en-US" altLang="en-US" sz="2800" i="1">
                        <a:latin typeface="Cambria Math" panose="02040503050406030204" charset="0"/>
                        <a:ea typeface="MS Mincho" charset="0"/>
                        <a:cs typeface="Cambria Math" panose="02040503050406030204" charset="0"/>
                      </a:rPr>
                      <m:t>988</m:t>
                    </m:r>
                  </m:oMath>
                </a14:m>
                <a:r>
                  <a:rPr lang="en-US" altLang="en-US" sz="2400">
                    <a:latin typeface="Calibri" panose="020F0502020204030204" charset="0"/>
                    <a:cs typeface="Calibri" panose="020F0502020204030204" charset="0"/>
                  </a:rPr>
                  <a:t>​</a:t>
                </a:r>
                <a:endParaRPr lang="en-US" altLang="en-US" sz="2400">
                  <a:latin typeface="Calibri" panose="020F0502020204030204" charset="0"/>
                  <a:cs typeface="Calibri" panose="020F0502020204030204" charset="0"/>
                </a:endParaRPr>
              </a:p>
            </p:txBody>
          </p:sp>
        </mc:Choice>
        <mc:Fallback>
          <p:sp>
            <p:nvSpPr>
              <p:cNvPr id="9" name="Text Box 8"/>
              <p:cNvSpPr txBox="1">
                <a:spLocks noRot="1" noChangeAspect="1" noMove="1" noResize="1" noEditPoints="1" noAdjustHandles="1" noChangeArrowheads="1" noChangeShapeType="1" noTextEdit="1"/>
              </p:cNvSpPr>
              <p:nvPr/>
            </p:nvSpPr>
            <p:spPr>
              <a:xfrm>
                <a:off x="838200" y="3519170"/>
                <a:ext cx="8725535" cy="706120"/>
              </a:xfrm>
              <a:prstGeom prst="rect">
                <a:avLst/>
              </a:prstGeom>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0" name="Text Box 9"/>
              <p:cNvSpPr txBox="1"/>
              <p:nvPr/>
            </p:nvSpPr>
            <p:spPr>
              <a:xfrm>
                <a:off x="920750" y="4672330"/>
                <a:ext cx="3683000" cy="621665"/>
              </a:xfrm>
              <a:prstGeom prst="rect">
                <a:avLst/>
              </a:prstGeom>
              <a:noFill/>
            </p:spPr>
            <p:txBody>
              <a:bodyPr wrap="square" rtlCol="0">
                <a:spAutoFit/>
              </a:bodyPr>
              <a:p>
                <a:r>
                  <a:rPr lang="de-DE" altLang="en-US" sz="2400">
                    <a:latin typeface="Calibri" panose="020F0502020204030204" charset="0"/>
                    <a:cs typeface="Calibri" panose="020F0502020204030204" charset="0"/>
                  </a:rPr>
                  <a:t>Recall = </a:t>
                </a:r>
                <a14:m>
                  <m:oMath xmlns:m="http://schemas.openxmlformats.org/officeDocument/2006/math">
                    <m:f>
                      <m:fPr>
                        <m:ctrlPr>
                          <a:rPr lang="en-US" altLang="de-DE" sz="2400" i="1">
                            <a:latin typeface="Cambria Math" panose="02040503050406030204" charset="0"/>
                            <a:cs typeface="Cambria Math" panose="02040503050406030204" charset="0"/>
                          </a:rPr>
                        </m:ctrlPr>
                      </m:fPr>
                      <m:num>
                        <m:r>
                          <a:rPr lang="en-US" altLang="de-DE" sz="2400" i="1">
                            <a:latin typeface="Cambria Math" panose="02040503050406030204" charset="0"/>
                            <a:cs typeface="Cambria Math" panose="02040503050406030204" charset="0"/>
                          </a:rPr>
                          <m:t>𝑇𝑃</m:t>
                        </m:r>
                      </m:num>
                      <m:den>
                        <m:r>
                          <a:rPr lang="en-US" altLang="de-DE" sz="2400" i="1">
                            <a:latin typeface="Cambria Math" panose="02040503050406030204" charset="0"/>
                            <a:cs typeface="Cambria Math" panose="02040503050406030204" charset="0"/>
                          </a:rPr>
                          <m:t>𝑇𝑃</m:t>
                        </m:r>
                        <m:r>
                          <a:rPr lang="en-US" altLang="de-DE" sz="2400" i="1">
                            <a:latin typeface="Cambria Math" panose="02040503050406030204" charset="0"/>
                            <a:ea typeface="MS Mincho" charset="0"/>
                            <a:cs typeface="Cambria Math" panose="02040503050406030204" charset="0"/>
                          </a:rPr>
                          <m:t>+</m:t>
                        </m:r>
                        <m:r>
                          <a:rPr lang="en-US" altLang="de-DE" sz="2400" i="1">
                            <a:latin typeface="Cambria Math" panose="02040503050406030204" charset="0"/>
                            <a:cs typeface="Cambria Math" panose="02040503050406030204" charset="0"/>
                          </a:rPr>
                          <m:t>𝐹𝑁</m:t>
                        </m:r>
                      </m:den>
                    </m:f>
                    <m:r>
                      <a:rPr lang="en-US" altLang="de-DE" sz="2400" i="1">
                        <a:latin typeface="Cambria Math" panose="02040503050406030204" charset="0"/>
                        <a:ea typeface="MS Mincho" charset="0"/>
                        <a:cs typeface="Cambria Math" panose="02040503050406030204" charset="0"/>
                      </a:rPr>
                      <m:t> = </m:t>
                    </m:r>
                    <m:r>
                      <a:rPr lang="en-US" altLang="de-DE" sz="2400" i="1">
                        <a:latin typeface="Cambria Math" panose="02040503050406030204" charset="0"/>
                        <a:ea typeface="MS Mincho" charset="0"/>
                        <a:cs typeface="Cambria Math" panose="02040503050406030204" charset="0"/>
                      </a:rPr>
                      <m:t>0</m:t>
                    </m:r>
                    <m:r>
                      <a:rPr lang="en-US" altLang="de-DE" sz="2400" i="1">
                        <a:latin typeface="Cambria Math" panose="02040503050406030204" charset="0"/>
                        <a:ea typeface="MS Mincho" charset="0"/>
                        <a:cs typeface="Cambria Math" panose="02040503050406030204" charset="0"/>
                      </a:rPr>
                      <m:t>,</m:t>
                    </m:r>
                    <m:r>
                      <a:rPr lang="en-US" altLang="de-DE" sz="2400" i="1">
                        <a:latin typeface="Cambria Math" panose="02040503050406030204" charset="0"/>
                        <a:ea typeface="MS Mincho" charset="0"/>
                        <a:cs typeface="Cambria Math" panose="02040503050406030204" charset="0"/>
                      </a:rPr>
                      <m:t>995</m:t>
                    </m:r>
                  </m:oMath>
                </a14:m>
                <a:endParaRPr lang="en-US" altLang="de-DE" sz="2400" i="1">
                  <a:latin typeface="Calibri" panose="020F0502020204030204" charset="0"/>
                  <a:cs typeface="Calibri" panose="020F0502020204030204" charset="0"/>
                </a:endParaRPr>
              </a:p>
            </p:txBody>
          </p:sp>
        </mc:Choice>
        <mc:Fallback>
          <p:sp>
            <p:nvSpPr>
              <p:cNvPr id="10" name="Text Box 9"/>
              <p:cNvSpPr txBox="1">
                <a:spLocks noRot="1" noChangeAspect="1" noMove="1" noResize="1" noEditPoints="1" noAdjustHandles="1" noChangeArrowheads="1" noChangeShapeType="1" noTextEdit="1"/>
              </p:cNvSpPr>
              <p:nvPr/>
            </p:nvSpPr>
            <p:spPr>
              <a:xfrm>
                <a:off x="920750" y="4672330"/>
                <a:ext cx="3683000" cy="621665"/>
              </a:xfrm>
              <a:prstGeom prst="rect">
                <a:avLst/>
              </a:prstGeom>
              <a:blipFill rotWithShape="1">
                <a:blip r:embed="rId3"/>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1" name="Text Box 10"/>
              <p:cNvSpPr txBox="1"/>
              <p:nvPr/>
            </p:nvSpPr>
            <p:spPr>
              <a:xfrm>
                <a:off x="930910" y="5854700"/>
                <a:ext cx="6287135" cy="629285"/>
              </a:xfrm>
              <a:prstGeom prst="rect">
                <a:avLst/>
              </a:prstGeom>
              <a:noFill/>
            </p:spPr>
            <p:txBody>
              <a:bodyPr wrap="square" rtlCol="0">
                <a:spAutoFit/>
              </a:bodyPr>
              <a:p>
                <a:r>
                  <a:rPr lang="de-DE" altLang="en-US" sz="2400">
                    <a:latin typeface="Calibri" panose="020F0502020204030204" charset="0"/>
                    <a:cs typeface="Calibri" panose="020F0502020204030204" charset="0"/>
                  </a:rPr>
                  <a:t>F1-Score= 2 </a:t>
                </a:r>
                <a14:m>
                  <m:oMath xmlns:m="http://schemas.openxmlformats.org/officeDocument/2006/math">
                    <m:r>
                      <a:rPr lang="en-US" altLang="de-DE" sz="2400" i="1">
                        <a:latin typeface="Cambria Math" panose="02040503050406030204" charset="0"/>
                        <a:ea typeface="MS Mincho" charset="0"/>
                        <a:cs typeface="Cambria Math" panose="02040503050406030204" charset="0"/>
                      </a:rPr>
                      <m:t>×</m:t>
                    </m:r>
                    <m:f>
                      <m:fPr>
                        <m:ctrlPr>
                          <a:rPr lang="en-US" altLang="de-DE" sz="2400" i="1">
                            <a:latin typeface="Cambria Math" panose="02040503050406030204" charset="0"/>
                            <a:cs typeface="Cambria Math" panose="02040503050406030204" charset="0"/>
                          </a:rPr>
                        </m:ctrlPr>
                      </m:fPr>
                      <m:num>
                        <m:r>
                          <a:rPr lang="en-US" altLang="de-DE" sz="2400" i="1">
                            <a:latin typeface="Cambria Math" panose="02040503050406030204" charset="0"/>
                            <a:cs typeface="Cambria Math" panose="02040503050406030204" charset="0"/>
                          </a:rPr>
                          <m:t>𝑃𝑟𝑒𝑐𝑖𝑠𝑖𝑜𝑛</m:t>
                        </m:r>
                        <m:r>
                          <a:rPr lang="en-US" altLang="de-DE" sz="2400" i="1">
                            <a:latin typeface="Cambria Math" panose="02040503050406030204" charset="0"/>
                            <a:ea typeface="MS Mincho" charset="0"/>
                            <a:cs typeface="Cambria Math" panose="02040503050406030204" charset="0"/>
                          </a:rPr>
                          <m:t> × </m:t>
                        </m:r>
                        <m:r>
                          <a:rPr lang="en-US" altLang="de-DE" sz="2400" i="1">
                            <a:latin typeface="Cambria Math" panose="02040503050406030204" charset="0"/>
                            <a:cs typeface="Cambria Math" panose="02040503050406030204" charset="0"/>
                          </a:rPr>
                          <m:t>𝑅𝑒𝑐𝑎𝑙𝑙</m:t>
                        </m:r>
                      </m:num>
                      <m:den>
                        <m:r>
                          <a:rPr lang="en-US" altLang="de-DE" sz="2400" i="1">
                            <a:latin typeface="Cambria Math" panose="02040503050406030204" charset="0"/>
                            <a:cs typeface="Cambria Math" panose="02040503050406030204" charset="0"/>
                          </a:rPr>
                          <m:t>𝑃𝑟𝑒𝑐𝑖𝑠𝑖𝑜𝑛</m:t>
                        </m:r>
                        <m:r>
                          <a:rPr lang="en-US" altLang="de-DE" sz="2400" i="1">
                            <a:latin typeface="Cambria Math" panose="02040503050406030204" charset="0"/>
                            <a:ea typeface="MS Mincho" charset="0"/>
                            <a:cs typeface="Cambria Math" panose="02040503050406030204" charset="0"/>
                          </a:rPr>
                          <m:t> + </m:t>
                        </m:r>
                        <m:r>
                          <a:rPr lang="en-US" altLang="de-DE" sz="2400" i="1">
                            <a:latin typeface="Cambria Math" panose="02040503050406030204" charset="0"/>
                            <a:cs typeface="Cambria Math" panose="02040503050406030204" charset="0"/>
                          </a:rPr>
                          <m:t>𝑅𝑒𝑐𝑎𝑙𝑙</m:t>
                        </m:r>
                      </m:den>
                    </m:f>
                    <m:r>
                      <a:rPr lang="en-US" altLang="de-DE" sz="2400" i="1">
                        <a:latin typeface="Cambria Math" panose="02040503050406030204" charset="0"/>
                        <a:ea typeface="MS Mincho" charset="0"/>
                        <a:cs typeface="Cambria Math" panose="02040503050406030204" charset="0"/>
                      </a:rPr>
                      <m:t> =</m:t>
                    </m:r>
                    <m:r>
                      <a:rPr lang="en-US" altLang="de-DE" sz="2400" i="1">
                        <a:latin typeface="Cambria Math" panose="02040503050406030204" charset="0"/>
                        <a:ea typeface="MS Mincho" charset="0"/>
                        <a:cs typeface="Cambria Math" panose="02040503050406030204" charset="0"/>
                      </a:rPr>
                      <m:t>0</m:t>
                    </m:r>
                    <m:r>
                      <a:rPr lang="en-US" altLang="de-DE" sz="2400" i="1">
                        <a:latin typeface="Cambria Math" panose="02040503050406030204" charset="0"/>
                        <a:ea typeface="MS Mincho" charset="0"/>
                        <a:cs typeface="Cambria Math" panose="02040503050406030204" charset="0"/>
                      </a:rPr>
                      <m:t>,</m:t>
                    </m:r>
                    <m:r>
                      <a:rPr lang="en-US" altLang="de-DE" sz="2400" i="1">
                        <a:latin typeface="Cambria Math" panose="02040503050406030204" charset="0"/>
                        <a:ea typeface="MS Mincho" charset="0"/>
                        <a:cs typeface="Cambria Math" panose="02040503050406030204" charset="0"/>
                      </a:rPr>
                      <m:t>991</m:t>
                    </m:r>
                    <m:r>
                      <a:rPr lang="en-US" altLang="de-DE" sz="2400" i="1">
                        <a:latin typeface="Cambria Math" panose="02040503050406030204" charset="0"/>
                        <a:ea typeface="MS Mincho" charset="0"/>
                        <a:cs typeface="Cambria Math" panose="02040503050406030204" charset="0"/>
                      </a:rPr>
                      <m:t>    </m:t>
                    </m:r>
                    <m:r>
                      <a:rPr lang="en-US" altLang="de-DE" sz="2400" i="1">
                        <a:latin typeface="Cambria Math" panose="02040503050406030204" charset="0"/>
                        <a:ea typeface="MS Mincho" charset="0"/>
                        <a:cs typeface="Cambria Math" panose="02040503050406030204" charset="0"/>
                      </a:rPr>
                      <m:t> </m:t>
                    </m:r>
                  </m:oMath>
                </a14:m>
                <a:endParaRPr lang="de-DE" altLang="en-US" sz="2400">
                  <a:latin typeface="Calibri" panose="020F0502020204030204" charset="0"/>
                  <a:cs typeface="Calibri" panose="020F0502020204030204" charset="0"/>
                </a:endParaRPr>
              </a:p>
            </p:txBody>
          </p:sp>
        </mc:Choice>
        <mc:Fallback>
          <p:sp>
            <p:nvSpPr>
              <p:cNvPr id="11" name="Text Box 10"/>
              <p:cNvSpPr txBox="1">
                <a:spLocks noRot="1" noChangeAspect="1" noMove="1" noResize="1" noEditPoints="1" noAdjustHandles="1" noChangeArrowheads="1" noChangeShapeType="1" noTextEdit="1"/>
              </p:cNvSpPr>
              <p:nvPr/>
            </p:nvSpPr>
            <p:spPr>
              <a:xfrm>
                <a:off x="930910" y="5854700"/>
                <a:ext cx="6287135" cy="629285"/>
              </a:xfrm>
              <a:prstGeom prst="rect">
                <a:avLst/>
              </a:prstGeom>
              <a:blipFill rotWithShape="1">
                <a:blip r:embed="rId4"/>
                <a:stretch>
                  <a:fillRect/>
                </a:stretch>
              </a:blipFill>
            </p:spPr>
            <p:txBody>
              <a:bodyPr/>
              <a:lstStyle/>
              <a:p>
                <a:r>
                  <a:rPr lang="en-US" altLang="en-US">
                    <a:noFill/>
                  </a:rPr>
                  <a:t> </a:t>
                </a:r>
              </a:p>
            </p:txBody>
          </p:sp>
        </mc:Fallback>
      </mc:AlternateContent>
      <p:sp>
        <p:nvSpPr>
          <p:cNvPr id="13" name="Text Box 12"/>
          <p:cNvSpPr txBox="1"/>
          <p:nvPr/>
        </p:nvSpPr>
        <p:spPr>
          <a:xfrm>
            <a:off x="6513195" y="5855017"/>
            <a:ext cx="5080000" cy="706755"/>
          </a:xfrm>
          <a:prstGeom prst="rect">
            <a:avLst/>
          </a:prstGeom>
        </p:spPr>
        <p:txBody>
          <a:bodyPr>
            <a:spAutoFit/>
          </a:bodyPr>
          <a:p>
            <a:r>
              <a:rPr sz="2000"/>
              <a:t>The overall F1-score of 0.99</a:t>
            </a:r>
            <a:r>
              <a:rPr lang="de-DE" sz="2000">
                <a:latin typeface="Calibri" panose="020F0502020204030204" charset="0"/>
              </a:rPr>
              <a:t>1</a:t>
            </a:r>
            <a:r>
              <a:rPr sz="2000"/>
              <a:t> indicates a </a:t>
            </a:r>
            <a:r>
              <a:rPr lang="de-DE" sz="2000">
                <a:latin typeface="Calibri" panose="020F0502020204030204" charset="0"/>
              </a:rPr>
              <a:t>good</a:t>
            </a:r>
            <a:r>
              <a:rPr sz="2000"/>
              <a:t> balance between precision and recall.</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pic>
        <p:nvPicPr>
          <p:cNvPr id="5" name="Content Placeholder 4"/>
          <p:cNvPicPr>
            <a:picLocks noChangeAspect="1"/>
          </p:cNvPicPr>
          <p:nvPr>
            <p:ph idx="1"/>
          </p:nvPr>
        </p:nvPicPr>
        <p:blipFill>
          <a:blip r:embed="rId1"/>
          <a:stretch>
            <a:fillRect/>
          </a:stretch>
        </p:blipFill>
        <p:spPr>
          <a:xfrm>
            <a:off x="493395" y="1745615"/>
            <a:ext cx="5922010" cy="4330065"/>
          </a:xfrm>
          <a:prstGeom prst="rect">
            <a:avLst/>
          </a:prstGeom>
        </p:spPr>
      </p:pic>
      <mc:AlternateContent xmlns:mc="http://schemas.openxmlformats.org/markup-compatibility/2006">
        <mc:Choice xmlns:a14="http://schemas.microsoft.com/office/drawing/2010/main" Requires="a14">
          <p:sp>
            <p:nvSpPr>
              <p:cNvPr id="7" name="Text Box 6"/>
              <p:cNvSpPr txBox="1"/>
              <p:nvPr/>
            </p:nvSpPr>
            <p:spPr>
              <a:xfrm>
                <a:off x="-178435" y="480060"/>
                <a:ext cx="6274435" cy="1199515"/>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r>
                        <a:rPr lang="en-US" i="1">
                          <a:latin typeface="Cambria Math" panose="02040503050406030204" charset="0"/>
                          <a:cs typeface="Cambria Math" panose="02040503050406030204" charset="0"/>
                        </a:rPr>
                        <m:t>𝐷𝑒𝑐𝑖𝑠𝑖𝑜𝑛</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𝑅𝑎𝑡𝑒</m:t>
                      </m:r>
                      <m:r>
                        <a:rPr lang="en-US" i="1">
                          <a:latin typeface="Cambria Math" panose="02040503050406030204" charset="0"/>
                          <a:cs typeface="Cambria Math" panose="02040503050406030204" charset="0"/>
                        </a:rPr>
                        <m:t>= </m:t>
                      </m:r>
                      <m:f>
                        <m:fPr>
                          <m:ctrlPr>
                            <a:rPr lang="en-US" i="1">
                              <a:latin typeface="Cambria Math" panose="02040503050406030204" charset="0"/>
                              <a:cs typeface="Cambria Math" panose="02040503050406030204" charset="0"/>
                            </a:rPr>
                          </m:ctrlPr>
                        </m:fPr>
                        <m:num>
                          <m:r>
                            <a:rPr lang="en-US" i="1">
                              <a:latin typeface="Cambria Math" panose="02040503050406030204" charset="0"/>
                              <a:cs typeface="Cambria Math" panose="02040503050406030204" charset="0"/>
                            </a:rPr>
                            <m:t>𝐷𝑒𝑡𝑒𝑐𝑡𝑒𝑑</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𝑁𝑎𝑖𝑙𝑠</m:t>
                          </m:r>
                        </m:num>
                        <m:den>
                          <m:r>
                            <a:rPr lang="en-US" i="1">
                              <a:latin typeface="Cambria Math" panose="02040503050406030204" charset="0"/>
                              <a:cs typeface="Cambria Math" panose="02040503050406030204" charset="0"/>
                            </a:rPr>
                            <m:t>𝑇𝑜𝑡𝑎𝑙</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𝑁𝑎𝑖𝑙𝑠</m:t>
                          </m:r>
                        </m:den>
                      </m:f>
                      <m:r>
                        <a:rPr lang="en-US" i="1">
                          <a:latin typeface="Cambria Math" panose="02040503050406030204" charset="0"/>
                          <a:cs typeface="Cambria Math" panose="02040503050406030204" charset="0"/>
                        </a:rPr>
                        <m:t>= </m:t>
                      </m:r>
                      <m:f>
                        <m:fPr>
                          <m:ctrlPr>
                            <a:rPr lang="en-US" i="1">
                              <a:latin typeface="Cambria Math" panose="02040503050406030204" charset="0"/>
                              <a:cs typeface="Cambria Math" panose="02040503050406030204" charset="0"/>
                            </a:rPr>
                          </m:ctrlPr>
                        </m:fPr>
                        <m:num>
                          <m:r>
                            <a:rPr lang="en-US" i="1">
                              <a:latin typeface="Cambria Math" panose="02040503050406030204" charset="0"/>
                              <a:cs typeface="Cambria Math" panose="02040503050406030204" charset="0"/>
                            </a:rPr>
                            <m:t>1462</m:t>
                          </m:r>
                        </m:num>
                        <m:den>
                          <m:r>
                            <a:rPr lang="en-US" i="1">
                              <a:latin typeface="Cambria Math" panose="02040503050406030204" charset="0"/>
                              <a:cs typeface="Cambria Math" panose="02040503050406030204" charset="0"/>
                            </a:rPr>
                            <m:t>1381</m:t>
                          </m:r>
                        </m:den>
                      </m:f>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105</m:t>
                      </m:r>
                      <m:r>
                        <a:rPr lang="en-US" i="1">
                          <a:latin typeface="Cambria Math" panose="02040503050406030204" charset="0"/>
                          <a:cs typeface="Cambria Math" panose="02040503050406030204" charset="0"/>
                        </a:rPr>
                        <m:t>,</m:t>
                      </m:r>
                      <m:r>
                        <a:rPr lang="en-US" i="1">
                          <a:latin typeface="Cambria Math" panose="02040503050406030204" charset="0"/>
                          <a:ea typeface="MS Mincho" charset="0"/>
                          <a:cs typeface="Cambria Math" panose="02040503050406030204" charset="0"/>
                        </a:rPr>
                        <m:t>09</m:t>
                      </m:r>
                      <m:r>
                        <a:rPr lang="en-US" i="1">
                          <a:latin typeface="Cambria Math" panose="02040503050406030204" charset="0"/>
                          <a:ea typeface="MS Mincho" charset="0"/>
                          <a:cs typeface="Cambria Math" panose="02040503050406030204" charset="0"/>
                        </a:rPr>
                        <m:t>%</m:t>
                      </m:r>
                    </m:oMath>
                  </m:oMathPara>
                </a14:m>
                <a:endParaRPr lang="en-US" i="1">
                  <a:latin typeface="Cambria Math" panose="02040503050406030204" charset="0"/>
                  <a:ea typeface="MS Mincho" charset="0"/>
                  <a:cs typeface="Cambria Math" panose="02040503050406030204" charset="0"/>
                </a:endParaRPr>
              </a:p>
            </p:txBody>
          </p:sp>
        </mc:Choice>
        <mc:Fallback>
          <p:sp>
            <p:nvSpPr>
              <p:cNvPr id="7" name="Text Box 6"/>
              <p:cNvSpPr txBox="1">
                <a:spLocks noRot="1" noChangeAspect="1" noMove="1" noResize="1" noEditPoints="1" noAdjustHandles="1" noChangeArrowheads="1" noChangeShapeType="1" noTextEdit="1"/>
              </p:cNvSpPr>
              <p:nvPr/>
            </p:nvSpPr>
            <p:spPr>
              <a:xfrm>
                <a:off x="-178435" y="480060"/>
                <a:ext cx="6274435" cy="1199515"/>
              </a:xfrm>
              <a:prstGeom prst="rect">
                <a:avLst/>
              </a:prstGeom>
              <a:blipFill rotWithShape="1">
                <a:blip r:embed="rId2"/>
                <a:stretch>
                  <a:fillRect/>
                </a:stretch>
              </a:blipFill>
            </p:spPr>
            <p:txBody>
              <a:bodyPr/>
              <a:lstStyle/>
              <a:p>
                <a:r>
                  <a:rPr lang="en-US" altLang="en-US">
                    <a:noFill/>
                  </a:rPr>
                  <a:t> </a:t>
                </a:r>
              </a:p>
            </p:txBody>
          </p:sp>
        </mc:Fallback>
      </mc:AlternateContent>
      <p:sp>
        <p:nvSpPr>
          <p:cNvPr id="8" name="Text Box 7"/>
          <p:cNvSpPr txBox="1"/>
          <p:nvPr/>
        </p:nvSpPr>
        <p:spPr>
          <a:xfrm>
            <a:off x="7070725" y="3133090"/>
            <a:ext cx="4554220" cy="1971040"/>
          </a:xfrm>
          <a:prstGeom prst="rect">
            <a:avLst/>
          </a:prstGeom>
          <a:noFill/>
        </p:spPr>
        <p:txBody>
          <a:bodyPr wrap="square" rtlCol="0">
            <a:noAutofit/>
          </a:bodyPr>
          <a:p>
            <a:r>
              <a:rPr lang="en-US" altLang="en-US" sz="2000"/>
              <a:t>The model achieved a detection rate of 105.9%</a:t>
            </a:r>
            <a:r>
              <a:rPr lang="de-DE" altLang="en-US" sz="2000">
                <a:latin typeface="Calibri" panose="020F0502020204030204" charset="0"/>
              </a:rPr>
              <a:t> and</a:t>
            </a:r>
            <a:r>
              <a:rPr lang="en-US" altLang="en-US" sz="2000"/>
              <a:t> </a:t>
            </a:r>
            <a:r>
              <a:rPr lang="en-US" altLang="en-US" sz="2000" b="1"/>
              <a:t>even detected some unlabeled nails</a:t>
            </a:r>
            <a:r>
              <a:rPr lang="en-US" altLang="en-US" sz="2000"/>
              <a:t> (possibly thumbs or tilted nails), suggesting </a:t>
            </a:r>
            <a:r>
              <a:rPr lang="en-US" altLang="en-US" sz="2000" b="1"/>
              <a:t>generalization beyond the training labels</a:t>
            </a:r>
            <a:r>
              <a:rPr lang="de-DE" altLang="en-US" sz="2000" b="1">
                <a:latin typeface="Calibri" panose="020F0502020204030204" charset="0"/>
              </a:rPr>
              <a:t>, </a:t>
            </a:r>
            <a:r>
              <a:rPr lang="en-US" altLang="en-US" sz="2000"/>
              <a:t>with an overall error rate below 2%</a:t>
            </a:r>
            <a:r>
              <a:rPr lang="en-US" altLang="en-US" sz="2000"/>
              <a:t>.</a:t>
            </a:r>
            <a:endParaRPr lang="en-US" altLang="en-US" sz="2000"/>
          </a:p>
        </p:txBody>
      </p:sp>
      <mc:AlternateContent xmlns:mc="http://schemas.openxmlformats.org/markup-compatibility/2006">
        <mc:Choice xmlns:a14="http://schemas.microsoft.com/office/drawing/2010/main" Requires="a14">
          <p:sp>
            <p:nvSpPr>
              <p:cNvPr id="9" name="Text Box 8"/>
              <p:cNvSpPr txBox="1"/>
              <p:nvPr/>
            </p:nvSpPr>
            <p:spPr>
              <a:xfrm>
                <a:off x="5663565" y="480060"/>
                <a:ext cx="6274435" cy="1199515"/>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r>
                        <a:rPr lang="en-US" i="1">
                          <a:latin typeface="Cambria Math" panose="02040503050406030204" charset="0"/>
                          <a:cs typeface="Cambria Math" panose="02040503050406030204" charset="0"/>
                        </a:rPr>
                        <m:t>𝐸𝑟𝑟𝑜𝑟</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𝑅𝑎𝑡𝑒</m:t>
                      </m:r>
                      <m:r>
                        <a:rPr lang="en-US" i="1">
                          <a:latin typeface="Cambria Math" panose="02040503050406030204" charset="0"/>
                          <a:cs typeface="Cambria Math" panose="02040503050406030204" charset="0"/>
                        </a:rPr>
                        <m:t>= </m:t>
                      </m:r>
                      <m:f>
                        <m:fPr>
                          <m:ctrlPr>
                            <a:rPr lang="en-US" i="1">
                              <a:latin typeface="Cambria Math" panose="02040503050406030204" charset="0"/>
                              <a:cs typeface="Cambria Math" panose="02040503050406030204" charset="0"/>
                            </a:rPr>
                          </m:ctrlPr>
                        </m:fPr>
                        <m:num>
                          <m:r>
                            <a:rPr lang="en-US" i="1">
                              <a:latin typeface="Cambria Math" panose="02040503050406030204" charset="0"/>
                              <a:cs typeface="Cambria Math" panose="02040503050406030204" charset="0"/>
                            </a:rPr>
                            <m:t>𝐹𝑃</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𝐹𝑁</m:t>
                          </m:r>
                        </m:num>
                        <m:den>
                          <m:r>
                            <a:rPr lang="en-US" i="1">
                              <a:latin typeface="Cambria Math" panose="02040503050406030204" charset="0"/>
                              <a:cs typeface="Cambria Math" panose="02040503050406030204" charset="0"/>
                            </a:rPr>
                            <m:t>𝐷𝑒𝑡𝑒𝑐𝑡𝑒𝑑</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𝑁𝑎𝑖𝑙𝑠</m:t>
                          </m:r>
                        </m:den>
                      </m:f>
                      <m:r>
                        <a:rPr lang="en-US" i="1">
                          <a:latin typeface="Cambria Math" panose="02040503050406030204" charset="0"/>
                          <a:cs typeface="Cambria Math" panose="02040503050406030204" charset="0"/>
                        </a:rPr>
                        <m:t>= </m:t>
                      </m:r>
                      <m:f>
                        <m:fPr>
                          <m:ctrlPr>
                            <a:rPr lang="en-US" i="1">
                              <a:latin typeface="Cambria Math" panose="02040503050406030204" charset="0"/>
                              <a:cs typeface="Cambria Math" panose="02040503050406030204" charset="0"/>
                            </a:rPr>
                          </m:ctrlPr>
                        </m:fPr>
                        <m:num>
                          <m:r>
                            <a:rPr lang="en-US" i="1">
                              <a:latin typeface="Cambria Math" panose="02040503050406030204" charset="0"/>
                              <a:cs typeface="Cambria Math" panose="02040503050406030204" charset="0"/>
                            </a:rPr>
                            <m:t>17</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7</m:t>
                          </m:r>
                        </m:num>
                        <m:den>
                          <m:r>
                            <a:rPr lang="en-US" i="1">
                              <a:latin typeface="Cambria Math" panose="02040503050406030204" charset="0"/>
                              <a:cs typeface="Cambria Math" panose="02040503050406030204" charset="0"/>
                            </a:rPr>
                            <m:t>1462</m:t>
                          </m:r>
                        </m:den>
                      </m:f>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1</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64</m:t>
                      </m:r>
                      <m:r>
                        <a:rPr lang="en-US" i="1">
                          <a:latin typeface="Cambria Math" panose="02040503050406030204" charset="0"/>
                          <a:ea typeface="MS Mincho" charset="0"/>
                          <a:cs typeface="Cambria Math" panose="02040503050406030204" charset="0"/>
                        </a:rPr>
                        <m:t>%</m:t>
                      </m:r>
                    </m:oMath>
                  </m:oMathPara>
                </a14:m>
                <a:endParaRPr lang="en-US" i="1">
                  <a:latin typeface="Cambria Math" panose="02040503050406030204" charset="0"/>
                  <a:ea typeface="MS Mincho" charset="0"/>
                  <a:cs typeface="Cambria Math" panose="02040503050406030204" charset="0"/>
                </a:endParaRPr>
              </a:p>
            </p:txBody>
          </p:sp>
        </mc:Choice>
        <mc:Fallback>
          <p:sp>
            <p:nvSpPr>
              <p:cNvPr id="9" name="Text Box 8"/>
              <p:cNvSpPr txBox="1">
                <a:spLocks noRot="1" noChangeAspect="1" noMove="1" noResize="1" noEditPoints="1" noAdjustHandles="1" noChangeArrowheads="1" noChangeShapeType="1" noTextEdit="1"/>
              </p:cNvSpPr>
              <p:nvPr/>
            </p:nvSpPr>
            <p:spPr>
              <a:xfrm>
                <a:off x="5663565" y="480060"/>
                <a:ext cx="6274435" cy="1199515"/>
              </a:xfrm>
              <a:prstGeom prst="rect">
                <a:avLst/>
              </a:prstGeom>
              <a:blipFill rotWithShape="1">
                <a:blip r:embed="rId3"/>
                <a:stretch>
                  <a:fillRect/>
                </a:stretch>
              </a:blipFill>
            </p:spPr>
            <p:txBody>
              <a:bodyPr/>
              <a:lstStyle/>
              <a:p>
                <a:r>
                  <a:rPr lang="en-US"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endParaRPr lang="en-US" altLang="en-US" sz="2800">
              <a:latin typeface="Calibri" panose="020F0502020204030204" charset="0"/>
              <a:cs typeface="Calibri" panose="020F0502020204030204" charset="0"/>
            </a:endParaRPr>
          </a:p>
        </p:txBody>
      </p:sp>
      <p:pic>
        <p:nvPicPr>
          <p:cNvPr id="5" name="Content Placeholder 4"/>
          <p:cNvPicPr>
            <a:picLocks noChangeAspect="1"/>
          </p:cNvPicPr>
          <p:nvPr>
            <p:ph idx="1"/>
          </p:nvPr>
        </p:nvPicPr>
        <p:blipFill>
          <a:blip r:embed="rId1"/>
          <a:stretch>
            <a:fillRect/>
          </a:stretch>
        </p:blipFill>
        <p:spPr>
          <a:xfrm>
            <a:off x="2645410" y="1140460"/>
            <a:ext cx="6901180" cy="53327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endParaRPr lang="en-US" altLang="en-US" sz="2400">
              <a:latin typeface="Calibri" panose="020F0502020204030204" charset="0"/>
              <a:cs typeface="Calibri" panose="020F0502020204030204" charset="0"/>
            </a:endParaRPr>
          </a:p>
        </p:txBody>
      </p:sp>
      <p:pic>
        <p:nvPicPr>
          <p:cNvPr id="5" name="Content Placeholder 4"/>
          <p:cNvPicPr>
            <a:picLocks noChangeAspect="1"/>
          </p:cNvPicPr>
          <p:nvPr>
            <p:ph idx="1"/>
          </p:nvPr>
        </p:nvPicPr>
        <p:blipFill>
          <a:blip r:embed="rId1"/>
          <a:stretch>
            <a:fillRect/>
          </a:stretch>
        </p:blipFill>
        <p:spPr>
          <a:xfrm>
            <a:off x="2518410" y="887095"/>
            <a:ext cx="7155180" cy="53117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723900" y="1111885"/>
            <a:ext cx="10930255" cy="1325880"/>
          </a:xfrm>
        </p:spPr>
        <p:txBody>
          <a:bodyPr>
            <a:noAutofit/>
          </a:bodyPr>
          <a:p>
            <a:r>
              <a:rPr lang="en-US" altLang="en-US" sz="2400">
                <a:latin typeface="Calibri" panose="020F0502020204030204" charset="0"/>
                <a:cs typeface="Calibri" panose="020F0502020204030204" charset="0"/>
              </a:rPr>
              <a:t>The model performs slightly </a:t>
            </a:r>
            <a:r>
              <a:rPr lang="en-US" altLang="en-US" sz="2400" b="1">
                <a:latin typeface="Calibri" panose="020F0502020204030204" charset="0"/>
                <a:cs typeface="Calibri" panose="020F0502020204030204" charset="0"/>
              </a:rPr>
              <a:t>better for healthy nails</a:t>
            </a:r>
            <a:r>
              <a:rPr lang="en-US" altLang="en-US" sz="2400">
                <a:latin typeface="Calibri" panose="020F0502020204030204" charset="0"/>
                <a:cs typeface="Calibri" panose="020F0502020204030204" charset="0"/>
              </a:rPr>
              <a:t>, likely due to higher visual consistency</a:t>
            </a:r>
            <a:r>
              <a:rPr lang="de-DE" altLang="en-US" sz="2400">
                <a:latin typeface="Calibri" panose="020F0502020204030204" charset="0"/>
                <a:cs typeface="Calibri" panose="020F0502020204030204" charset="0"/>
              </a:rPr>
              <a:t>, </a:t>
            </a:r>
            <a:r>
              <a:rPr lang="en-US" altLang="en-US" sz="2400">
                <a:latin typeface="Calibri" panose="020F0502020204030204" charset="0"/>
                <a:cs typeface="Calibri" panose="020F0502020204030204" charset="0"/>
              </a:rPr>
              <a:t>wh</a:t>
            </a:r>
            <a:r>
              <a:rPr lang="de-DE" altLang="en-US" sz="2400">
                <a:latin typeface="Calibri" panose="020F0502020204030204" charset="0"/>
                <a:cs typeface="Calibri" panose="020F0502020204030204" charset="0"/>
              </a:rPr>
              <a:t>ile</a:t>
            </a:r>
            <a:r>
              <a:rPr lang="en-US" altLang="en-US" sz="2400">
                <a:latin typeface="Calibri" panose="020F0502020204030204" charset="0"/>
                <a:cs typeface="Calibri" panose="020F0502020204030204" charset="0"/>
              </a:rPr>
              <a:t> melanoma nails show more variability in shape and color</a:t>
            </a:r>
            <a:endParaRPr lang="en-US" altLang="en-US" sz="2400">
              <a:latin typeface="Calibri" panose="020F0502020204030204" charset="0"/>
              <a:cs typeface="Calibri" panose="020F0502020204030204" charset="0"/>
            </a:endParaRPr>
          </a:p>
        </p:txBody>
      </p:sp>
      <p:graphicFrame>
        <p:nvGraphicFramePr>
          <p:cNvPr id="5" name="Content Placeholder 4"/>
          <p:cNvGraphicFramePr/>
          <p:nvPr>
            <p:ph idx="1"/>
          </p:nvPr>
        </p:nvGraphicFramePr>
        <p:xfrm>
          <a:off x="723900" y="2865120"/>
          <a:ext cx="10515600" cy="1127760"/>
        </p:xfrm>
        <a:graphic>
          <a:graphicData uri="http://schemas.openxmlformats.org/drawingml/2006/table">
            <a:tbl>
              <a:tblPr firstRow="1" bandRow="1">
                <a:tableStyleId>{5C22544A-7EE6-4342-B048-85BDC9FD1C3A}</a:tableStyleId>
              </a:tblPr>
              <a:tblGrid>
                <a:gridCol w="2628900"/>
                <a:gridCol w="2628900"/>
                <a:gridCol w="2628900"/>
                <a:gridCol w="2628900"/>
              </a:tblGrid>
              <a:tr h="0">
                <a:tc>
                  <a:txBody>
                    <a:bodyPr/>
                    <a:p>
                      <a:pPr>
                        <a:buNone/>
                      </a:pPr>
                      <a:r>
                        <a:rPr lang="de-DE" altLang="en-US">
                          <a:solidFill>
                            <a:schemeClr val="tx1"/>
                          </a:solidFill>
                          <a:latin typeface="Calibri" panose="020F0502020204030204" charset="0"/>
                        </a:rPr>
                        <a:t>Class</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Precision</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Recall</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F1-Score</a:t>
                      </a:r>
                      <a:endParaRPr lang="de-DE" altLang="en-US">
                        <a:solidFill>
                          <a:schemeClr val="tx1"/>
                        </a:solidFill>
                        <a:latin typeface="Calibri" panose="020F0502020204030204" charset="0"/>
                      </a:endParaRPr>
                    </a:p>
                  </a:txBody>
                  <a:tcPr/>
                </a:tc>
              </a:tr>
              <a:tr h="381000">
                <a:tc>
                  <a:txBody>
                    <a:bodyPr/>
                    <a:p>
                      <a:pPr>
                        <a:buNone/>
                      </a:pPr>
                      <a:r>
                        <a:rPr lang="de-DE" altLang="en-US">
                          <a:solidFill>
                            <a:schemeClr val="tx1"/>
                          </a:solidFill>
                          <a:latin typeface="Calibri" panose="020F0502020204030204" charset="0"/>
                        </a:rPr>
                        <a:t>Healthy</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1,000</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0,992</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0,996</a:t>
                      </a:r>
                      <a:endParaRPr lang="de-DE" altLang="en-US">
                        <a:solidFill>
                          <a:schemeClr val="tx1"/>
                        </a:solidFill>
                        <a:latin typeface="Calibri" panose="020F0502020204030204" charset="0"/>
                      </a:endParaRPr>
                    </a:p>
                  </a:txBody>
                  <a:tcPr/>
                </a:tc>
              </a:tr>
              <a:tr h="381000">
                <a:tc>
                  <a:txBody>
                    <a:bodyPr/>
                    <a:p>
                      <a:pPr>
                        <a:buNone/>
                      </a:pPr>
                      <a:r>
                        <a:rPr lang="de-DE" altLang="en-US">
                          <a:solidFill>
                            <a:schemeClr val="tx1"/>
                          </a:solidFill>
                          <a:latin typeface="Calibri" panose="020F0502020204030204" charset="0"/>
                        </a:rPr>
                        <a:t>Melanoma</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0,971</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1,000</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0,985</a:t>
                      </a:r>
                      <a:endParaRPr lang="de-DE" altLang="en-US">
                        <a:solidFill>
                          <a:schemeClr val="tx1"/>
                        </a:solidFill>
                        <a:latin typeface="Calibri" panose="020F0502020204030204" charset="0"/>
                      </a:endParaRP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sym typeface="+mn-ea"/>
              </a:rPr>
              <a:t>Confidence Score Analysis</a:t>
            </a:r>
            <a:endParaRPr lang="en-US"/>
          </a:p>
        </p:txBody>
      </p:sp>
      <p:pic>
        <p:nvPicPr>
          <p:cNvPr id="4" name="Content Placeholder 3"/>
          <p:cNvPicPr>
            <a:picLocks noChangeAspect="1"/>
          </p:cNvPicPr>
          <p:nvPr>
            <p:ph idx="1"/>
          </p:nvPr>
        </p:nvPicPr>
        <p:blipFill>
          <a:blip r:embed="rId1"/>
          <a:stretch>
            <a:fillRect/>
          </a:stretch>
        </p:blipFill>
        <p:spPr>
          <a:xfrm>
            <a:off x="622300" y="3134360"/>
            <a:ext cx="11260455" cy="2341880"/>
          </a:xfrm>
          <a:prstGeom prst="rect">
            <a:avLst/>
          </a:prstGeom>
        </p:spPr>
      </p:pic>
      <p:sp>
        <p:nvSpPr>
          <p:cNvPr id="5" name="Text Box 4"/>
          <p:cNvSpPr txBox="1"/>
          <p:nvPr/>
        </p:nvSpPr>
        <p:spPr>
          <a:xfrm>
            <a:off x="980440" y="1691005"/>
            <a:ext cx="10074275" cy="1977390"/>
          </a:xfrm>
          <a:prstGeom prst="rect">
            <a:avLst/>
          </a:prstGeom>
          <a:noFill/>
        </p:spPr>
        <p:txBody>
          <a:bodyPr wrap="square" rtlCol="0">
            <a:noAutofit/>
          </a:bodyPr>
          <a:p>
            <a:pPr marL="285750" indent="-285750">
              <a:buFont typeface="Arial" panose="020B0604020202020204" pitchFamily="34" charset="0"/>
              <a:buChar char="•"/>
            </a:pPr>
            <a:r>
              <a:rPr lang="de-DE" altLang="en-US" sz="2000">
                <a:latin typeface="Calibri" panose="020F0502020204030204" charset="0"/>
              </a:rPr>
              <a:t>An extra feature was added to the bounding box algorithm: For each image, the mean confidence value (mean value of each detected nail box) gets calculated. </a:t>
            </a:r>
            <a:endParaRPr lang="de-DE" altLang="en-US" sz="2000">
              <a:latin typeface="Calibri" panose="020F0502020204030204" charset="0"/>
            </a:endParaRPr>
          </a:p>
          <a:p>
            <a:pPr marL="285750" indent="-285750">
              <a:buFont typeface="Arial" panose="020B0604020202020204" pitchFamily="34" charset="0"/>
              <a:buChar char="•"/>
            </a:pPr>
            <a:r>
              <a:rPr lang="de-DE" altLang="en-US" sz="2000">
                <a:latin typeface="Calibri" panose="020F0502020204030204" charset="0"/>
              </a:rPr>
              <a:t>Distribution of these values are used for the analysis.</a:t>
            </a:r>
            <a:endParaRPr lang="de-DE" altLang="en-US" sz="2000">
              <a:latin typeface="Calibri" panose="020F0502020204030204" charset="0"/>
            </a:endParaRPr>
          </a:p>
        </p:txBody>
      </p:sp>
      <p:cxnSp>
        <p:nvCxnSpPr>
          <p:cNvPr id="7" name="Straight Arrow Connector 6"/>
          <p:cNvCxnSpPr/>
          <p:nvPr/>
        </p:nvCxnSpPr>
        <p:spPr>
          <a:xfrm flipH="1">
            <a:off x="7181183" y="3550285"/>
            <a:ext cx="1179830" cy="29210"/>
          </a:xfrm>
          <a:prstGeom prst="straightConnector1">
            <a:avLst/>
          </a:prstGeom>
          <a:ln w="28575" cmpd="sng">
            <a:solidFill>
              <a:srgbClr val="FF0000"/>
            </a:solidFill>
            <a:prstDash val="solid"/>
            <a:tailEnd type="arrow" w="med" len="med"/>
          </a:ln>
        </p:spPr>
        <p:style>
          <a:lnRef idx="3">
            <a:schemeClr val="accent1"/>
          </a:lnRef>
          <a:fillRef idx="0">
            <a:srgbClr val="FFFFFF"/>
          </a:fillRef>
          <a:effectRef idx="0">
            <a:srgbClr val="FFFFFF"/>
          </a:effectRef>
          <a:fontRef idx="minor">
            <a:schemeClr val="tx1"/>
          </a:fontRef>
        </p:style>
      </p:cxnSp>
      <p:cxnSp>
        <p:nvCxnSpPr>
          <p:cNvPr id="8" name="Straight Arrow Connector 7"/>
          <p:cNvCxnSpPr/>
          <p:nvPr/>
        </p:nvCxnSpPr>
        <p:spPr>
          <a:xfrm flipH="1">
            <a:off x="7699343" y="4161155"/>
            <a:ext cx="1179830" cy="29210"/>
          </a:xfrm>
          <a:prstGeom prst="straightConnector1">
            <a:avLst/>
          </a:prstGeom>
          <a:ln w="28575" cmpd="sng">
            <a:solidFill>
              <a:srgbClr val="FF0000"/>
            </a:solidFill>
            <a:prstDash val="solid"/>
            <a:tailEnd type="arrow" w="med" len="med"/>
          </a:ln>
        </p:spPr>
        <p:style>
          <a:lnRef idx="3">
            <a:schemeClr val="accent1"/>
          </a:lnRef>
          <a:fillRef idx="0">
            <a:srgbClr val="FFFFFF"/>
          </a:fillRef>
          <a:effectRef idx="0">
            <a:srgbClr val="FFFFFF"/>
          </a:effectRef>
          <a:fontRef idx="minor">
            <a:schemeClr val="tx1"/>
          </a:fontRef>
        </p:style>
      </p:cxnSp>
      <p:cxnSp>
        <p:nvCxnSpPr>
          <p:cNvPr id="9" name="Straight Arrow Connector 8"/>
          <p:cNvCxnSpPr/>
          <p:nvPr/>
        </p:nvCxnSpPr>
        <p:spPr>
          <a:xfrm flipH="1">
            <a:off x="7181183" y="4702810"/>
            <a:ext cx="1179830" cy="29210"/>
          </a:xfrm>
          <a:prstGeom prst="straightConnector1">
            <a:avLst/>
          </a:prstGeom>
          <a:ln w="28575" cmpd="sng">
            <a:solidFill>
              <a:srgbClr val="FF0000"/>
            </a:solidFill>
            <a:prstDash val="solid"/>
            <a:tailEnd type="arrow" w="med" len="med"/>
          </a:ln>
        </p:spPr>
        <p:style>
          <a:lnRef idx="3">
            <a:schemeClr val="accent1"/>
          </a:lnRef>
          <a:fillRef idx="0">
            <a:srgbClr val="FFFFFF"/>
          </a:fillRef>
          <a:effectRef idx="0">
            <a:srgbClr val="FFFFFF"/>
          </a:effectRef>
          <a:fontRef idx="minor">
            <a:schemeClr val="tx1"/>
          </a:fontRef>
        </p:style>
      </p:cxnSp>
      <p:cxnSp>
        <p:nvCxnSpPr>
          <p:cNvPr id="10" name="Straight Arrow Connector 9"/>
          <p:cNvCxnSpPr/>
          <p:nvPr/>
        </p:nvCxnSpPr>
        <p:spPr>
          <a:xfrm flipH="1">
            <a:off x="7699343" y="5273675"/>
            <a:ext cx="1179830" cy="29210"/>
          </a:xfrm>
          <a:prstGeom prst="straightConnector1">
            <a:avLst/>
          </a:prstGeom>
          <a:ln w="28575" cmpd="sng">
            <a:solidFill>
              <a:srgbClr val="FF0000"/>
            </a:solidFill>
            <a:prstDash val="solid"/>
            <a:tailEnd type="arrow" w="med" len="med"/>
          </a:ln>
        </p:spPr>
        <p:style>
          <a:lnRef idx="3">
            <a:schemeClr val="accent1"/>
          </a:lnRef>
          <a:fillRef idx="0">
            <a:srgbClr val="FFFFFF"/>
          </a:fillRef>
          <a:effectRef idx="0">
            <a:srgbClr val="FFFFFF"/>
          </a:effectRef>
          <a:fontRef idx="minor">
            <a:schemeClr val="tx1"/>
          </a:fontRef>
        </p:style>
      </p:cxnSp>
      <p:sp>
        <p:nvSpPr>
          <p:cNvPr id="11" name="Text Box 10"/>
          <p:cNvSpPr txBox="1"/>
          <p:nvPr/>
        </p:nvSpPr>
        <p:spPr>
          <a:xfrm>
            <a:off x="4203700" y="5622290"/>
            <a:ext cx="4097655" cy="368300"/>
          </a:xfrm>
          <a:prstGeom prst="rect">
            <a:avLst/>
          </a:prstGeom>
          <a:noFill/>
        </p:spPr>
        <p:txBody>
          <a:bodyPr wrap="square" rtlCol="0">
            <a:spAutoFit/>
          </a:bodyPr>
          <a:p>
            <a:r>
              <a:rPr lang="de-DE" altLang="en-US">
                <a:latin typeface="Calibri" panose="020F0502020204030204" charset="0"/>
              </a:rPr>
              <a:t>An example output from the program</a:t>
            </a:r>
            <a:endParaRPr lang="de-DE" altLang="en-US">
              <a:latin typeface="Calibri" panose="020F0502020204030204" charset="0"/>
            </a:endParaRPr>
          </a:p>
        </p:txBody>
      </p:sp>
      <p:pic>
        <p:nvPicPr>
          <p:cNvPr id="12" name="Picture 11"/>
          <p:cNvPicPr>
            <a:picLocks noChangeAspect="1"/>
          </p:cNvPicPr>
          <p:nvPr/>
        </p:nvPicPr>
        <p:blipFill>
          <a:blip r:embed="rId2"/>
          <a:stretch>
            <a:fillRect/>
          </a:stretch>
        </p:blipFill>
        <p:spPr>
          <a:xfrm>
            <a:off x="9168765" y="238760"/>
            <a:ext cx="2713990" cy="14522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sz="3600">
                <a:latin typeface="Calibri" panose="020F0502020204030204" charset="0"/>
              </a:rPr>
              <a:t>Confidence Score Analysis</a:t>
            </a:r>
            <a:endParaRPr lang="de-DE" altLang="en-US" sz="3600">
              <a:latin typeface="Calibri" panose="020F0502020204030204"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60070" y="1447165"/>
                <a:ext cx="10515600" cy="4351338"/>
              </a:xfrm>
            </p:spPr>
            <p:txBody>
              <a:bodyPr/>
              <a:p>
                <a:r>
                  <a:rPr lang="en-US" altLang="en-US" sz="2000" b="1"/>
                  <a:t>Overall mean confidence: 0.7680</a:t>
                </a:r>
                <a:r>
                  <a:rPr lang="de-DE" altLang="en-US" sz="2000" b="1">
                    <a:latin typeface="Calibri" panose="020F0502020204030204" charset="0"/>
                  </a:rPr>
                  <a:t> </a:t>
                </a:r>
                <a14:m>
                  <m:oMath xmlns:m="http://schemas.openxmlformats.org/officeDocument/2006/math">
                    <m:r>
                      <a:rPr lang="en-US" altLang="de-DE" sz="2000" b="1" i="1">
                        <a:latin typeface="Cambria Math" panose="02040503050406030204" charset="0"/>
                        <a:cs typeface="Cambria Math" panose="02040503050406030204" charset="0"/>
                      </a:rPr>
                      <m:t>≈ </m:t>
                    </m:r>
                    <m:r>
                      <a:rPr lang="en-US" altLang="de-DE" sz="2000" b="1" i="1">
                        <a:latin typeface="Cambria Math" panose="02040503050406030204" charset="0"/>
                        <a:cs typeface="Cambria Math" panose="02040503050406030204" charset="0"/>
                      </a:rPr>
                      <m:t>𝟕𝟕</m:t>
                    </m:r>
                    <m:r>
                      <a:rPr lang="en-US" altLang="de-DE" sz="2000" b="1" i="1">
                        <a:latin typeface="Cambria Math" panose="02040503050406030204" charset="0"/>
                        <a:cs typeface="Cambria Math" panose="02040503050406030204" charset="0"/>
                      </a:rPr>
                      <m:t>%</m:t>
                    </m:r>
                  </m:oMath>
                </a14:m>
                <a:endParaRPr lang="en-US" altLang="en-US" sz="2000" b="1"/>
              </a:p>
              <a:p>
                <a:r>
                  <a:rPr lang="en-US" altLang="en-US" sz="2000" b="1"/>
                  <a:t>Median confidence:</a:t>
                </a:r>
                <a:r>
                  <a:rPr lang="en-US" altLang="en-US" sz="2000"/>
                  <a:t> 0.7945</a:t>
                </a:r>
                <a:endParaRPr lang="en-US" altLang="en-US" sz="2000"/>
              </a:p>
              <a:p>
                <a:r>
                  <a:rPr lang="en-US" altLang="en-US" sz="2000" b="1"/>
                  <a:t>St</a:t>
                </a:r>
                <a:r>
                  <a:rPr lang="de-DE" altLang="en-US" sz="2000" b="1">
                    <a:latin typeface="Calibri" panose="020F0502020204030204" charset="0"/>
                  </a:rPr>
                  <a:t>andard</a:t>
                </a:r>
                <a:r>
                  <a:rPr lang="en-US" altLang="en-US" sz="2000" b="1"/>
                  <a:t> deviation:</a:t>
                </a:r>
                <a:r>
                  <a:rPr lang="en-US" altLang="en-US" sz="2000"/>
                  <a:t> 0.1337</a:t>
                </a:r>
                <a:r>
                  <a:rPr lang="de-DE" altLang="en-US" sz="2000">
                    <a:latin typeface="Calibri" panose="020F0502020204030204" charset="0"/>
                  </a:rPr>
                  <a:t>  </a:t>
                </a:r>
                <a:r>
                  <a:rPr lang="en-US" altLang="en-US" sz="2000">
                    <a:sym typeface="+mn-ea"/>
                  </a:rPr>
                  <a:t>→</a:t>
                </a:r>
                <a:r>
                  <a:rPr lang="en-US" altLang="en-US" sz="2000">
                    <a:latin typeface="Calibri" panose="020F0502020204030204" charset="0"/>
                  </a:rPr>
                  <a:t>suggests moderate </a:t>
                </a:r>
                <a:endParaRPr lang="en-US" altLang="en-US" sz="2000">
                  <a:latin typeface="Calibri" panose="020F0502020204030204" charset="0"/>
                </a:endParaRPr>
              </a:p>
              <a:p>
                <a:pPr marL="0" indent="0">
                  <a:buNone/>
                </a:pPr>
                <a:r>
                  <a:rPr lang="en-US" altLang="en-US" sz="2000">
                    <a:latin typeface="Calibri" panose="020F0502020204030204" charset="0"/>
                  </a:rPr>
                  <a:t>variation across detections</a:t>
                </a:r>
                <a:endParaRPr lang="en-US" altLang="en-US" sz="2000">
                  <a:latin typeface="Calibri" panose="020F0502020204030204"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60070" y="1447165"/>
                <a:ext cx="10515600" cy="4351338"/>
              </a:xfrm>
              <a:blipFill rotWithShape="1">
                <a:blip r:embed="rId1"/>
                <a:stretch>
                  <a:fillRect b="7"/>
                </a:stretch>
              </a:blipFill>
            </p:spPr>
            <p:txBody>
              <a:bodyPr/>
              <a:lstStyle/>
              <a:p>
                <a:r>
                  <a:rPr lang="en-US" altLang="en-US">
                    <a:noFill/>
                  </a:rPr>
                  <a:t> </a:t>
                </a:r>
              </a:p>
            </p:txBody>
          </p:sp>
        </mc:Fallback>
      </mc:AlternateContent>
      <p:pic>
        <p:nvPicPr>
          <p:cNvPr id="4" name="Picture 3"/>
          <p:cNvPicPr>
            <a:picLocks noChangeAspect="1"/>
          </p:cNvPicPr>
          <p:nvPr/>
        </p:nvPicPr>
        <p:blipFill>
          <a:blip r:embed="rId2"/>
          <a:stretch>
            <a:fillRect/>
          </a:stretch>
        </p:blipFill>
        <p:spPr>
          <a:xfrm>
            <a:off x="6587490" y="1909445"/>
            <a:ext cx="5450205" cy="3889375"/>
          </a:xfrm>
          <a:prstGeom prst="rect">
            <a:avLst/>
          </a:prstGeom>
        </p:spPr>
      </p:pic>
      <p:sp>
        <p:nvSpPr>
          <p:cNvPr id="5" name="Text Box 4"/>
          <p:cNvSpPr txBox="1"/>
          <p:nvPr/>
        </p:nvSpPr>
        <p:spPr>
          <a:xfrm>
            <a:off x="560070" y="3553460"/>
            <a:ext cx="5654675" cy="1938020"/>
          </a:xfrm>
          <a:prstGeom prst="rect">
            <a:avLst/>
          </a:prstGeom>
          <a:noFill/>
        </p:spPr>
        <p:txBody>
          <a:bodyPr wrap="square" rtlCol="0">
            <a:spAutoFit/>
          </a:bodyPr>
          <a:p>
            <a:pPr marL="285750" indent="-285750">
              <a:buFont typeface="Arial" panose="020B0604020202020204" pitchFamily="34" charset="0"/>
              <a:buChar char="•"/>
            </a:pPr>
            <a:r>
              <a:rPr lang="en-US" altLang="en-US" sz="2000"/>
              <a:t>Most detections have confidence scores between 0.7 and 0.9</a:t>
            </a:r>
            <a:endParaRPr lang="en-US" altLang="en-US" sz="2000"/>
          </a:p>
          <a:p>
            <a:pPr marL="285750" indent="-285750">
              <a:buFont typeface="Arial" panose="020B0604020202020204" pitchFamily="34" charset="0"/>
              <a:buChar char="•"/>
            </a:pPr>
            <a:r>
              <a:rPr lang="de-DE" altLang="en-US" sz="2000">
                <a:latin typeface="Calibri" panose="020F0502020204030204" charset="0"/>
              </a:rPr>
              <a:t>T</a:t>
            </a:r>
            <a:r>
              <a:rPr lang="en-US" altLang="en-US" sz="2000"/>
              <a:t>he model is generally confident and consistent in detecting nails</a:t>
            </a:r>
            <a:endParaRPr lang="en-US" altLang="en-US" sz="2000"/>
          </a:p>
          <a:p>
            <a:pPr marL="285750" indent="-285750">
              <a:buFont typeface="Arial" panose="020B0604020202020204" pitchFamily="34" charset="0"/>
              <a:buChar char="•"/>
            </a:pPr>
            <a:r>
              <a:rPr lang="de-DE" altLang="en-US" sz="2000">
                <a:latin typeface="Calibri" panose="020F0502020204030204" charset="0"/>
              </a:rPr>
              <a:t>A</a:t>
            </a:r>
            <a:r>
              <a:rPr lang="en-US" altLang="en-US" sz="2000"/>
              <a:t> few lower</a:t>
            </a:r>
            <a:r>
              <a:rPr lang="de-DE" altLang="en-US" sz="2000">
                <a:latin typeface="Calibri" panose="020F0502020204030204" charset="0"/>
              </a:rPr>
              <a:t> </a:t>
            </a:r>
            <a:r>
              <a:rPr lang="en-US" altLang="en-US" sz="2000"/>
              <a:t>confidence</a:t>
            </a:r>
            <a:r>
              <a:rPr lang="de-DE" altLang="en-US" sz="2000">
                <a:latin typeface="Calibri" panose="020F0502020204030204" charset="0"/>
              </a:rPr>
              <a:t> score</a:t>
            </a:r>
            <a:r>
              <a:rPr lang="en-US" altLang="en-US" sz="2000"/>
              <a:t> detections likely correspond to difficult lighting or angles.</a:t>
            </a:r>
            <a:endParaRPr lang="en-US"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365125"/>
            <a:ext cx="10515600" cy="1325563"/>
          </a:xfrm>
        </p:spPr>
        <p:txBody>
          <a:bodyPr/>
          <a:p>
            <a:r>
              <a:rPr lang="de-DE" altLang="en-US" sz="3200" b="1">
                <a:latin typeface="Calibri" panose="020F0502020204030204" charset="0"/>
                <a:sym typeface="+mn-ea"/>
              </a:rPr>
              <a:t>Error Types &amp; Reasons why actual and result numbers do not align</a:t>
            </a:r>
            <a:endParaRPr lang="de-DE" altLang="en-US" sz="3200" b="1">
              <a:latin typeface="Calibri" panose="020F0502020204030204" charset="0"/>
              <a:sym typeface="+mn-ea"/>
            </a:endParaRPr>
          </a:p>
        </p:txBody>
      </p:sp>
      <p:sp>
        <p:nvSpPr>
          <p:cNvPr id="3" name="Content Placeholder 2"/>
          <p:cNvSpPr>
            <a:spLocks noGrp="1"/>
          </p:cNvSpPr>
          <p:nvPr>
            <p:ph sz="half" idx="1"/>
          </p:nvPr>
        </p:nvSpPr>
        <p:spPr>
          <a:xfrm>
            <a:off x="838200" y="1555750"/>
            <a:ext cx="10897870" cy="4351655"/>
          </a:xfrm>
        </p:spPr>
        <p:txBody>
          <a:bodyPr/>
          <a:p>
            <a:pPr marL="514350" indent="-514350">
              <a:buAutoNum type="arabicPeriod"/>
            </a:pPr>
            <a:r>
              <a:rPr lang="de-DE" altLang="en-US" sz="2000">
                <a:latin typeface="Calibri" panose="020F0502020204030204" charset="0"/>
                <a:sym typeface="+mn-ea"/>
              </a:rPr>
              <a:t>overly zoomed nail pictures                      </a:t>
            </a:r>
            <a:r>
              <a:rPr lang="en-US" altLang="en-US" sz="2000">
                <a:sym typeface="+mn-ea"/>
              </a:rPr>
              <a:t>→</a:t>
            </a:r>
            <a:r>
              <a:rPr lang="de-DE" altLang="en-US" sz="2000">
                <a:latin typeface="Calibri" panose="020F0502020204030204" charset="0"/>
                <a:sym typeface="+mn-ea"/>
              </a:rPr>
              <a:t> led to FP</a:t>
            </a:r>
            <a:endParaRPr lang="de-DE" altLang="en-US" sz="2000">
              <a:latin typeface="Calibri" panose="020F0502020204030204" charset="0"/>
              <a:sym typeface="+mn-ea"/>
            </a:endParaRPr>
          </a:p>
          <a:p>
            <a:pPr marL="514350" indent="-514350">
              <a:buAutoNum type="arabicPeriod"/>
            </a:pPr>
            <a:r>
              <a:rPr lang="de-DE" altLang="en-US" sz="2000">
                <a:latin typeface="Calibri" panose="020F0502020204030204" charset="0"/>
                <a:sym typeface="+mn-ea"/>
              </a:rPr>
              <a:t>colorful background                                   </a:t>
            </a:r>
            <a:r>
              <a:rPr lang="en-US" altLang="en-US" sz="2000">
                <a:sym typeface="+mn-ea"/>
              </a:rPr>
              <a:t>→</a:t>
            </a:r>
            <a:r>
              <a:rPr lang="de-DE" altLang="en-US" sz="2000">
                <a:latin typeface="Calibri" panose="020F0502020204030204" charset="0"/>
                <a:sym typeface="+mn-ea"/>
              </a:rPr>
              <a:t> led to FN</a:t>
            </a:r>
            <a:endParaRPr lang="de-DE" altLang="en-US" sz="2000">
              <a:latin typeface="Calibri" panose="020F0502020204030204" charset="0"/>
              <a:sym typeface="+mn-ea"/>
            </a:endParaRPr>
          </a:p>
          <a:p>
            <a:pPr marL="514350" indent="-514350">
              <a:buAutoNum type="arabicPeriod"/>
            </a:pPr>
            <a:r>
              <a:rPr lang="de-DE" altLang="en-US" sz="2000">
                <a:latin typeface="Calibri" panose="020F0502020204030204" charset="0"/>
                <a:sym typeface="+mn-ea"/>
              </a:rPr>
              <a:t>hand in bad position                                  </a:t>
            </a:r>
            <a:r>
              <a:rPr lang="en-US" altLang="en-US" sz="2000">
                <a:sym typeface="+mn-ea"/>
              </a:rPr>
              <a:t>→</a:t>
            </a:r>
            <a:r>
              <a:rPr lang="de-DE" altLang="en-US" sz="2000">
                <a:latin typeface="Calibri" panose="020F0502020204030204" charset="0"/>
                <a:sym typeface="+mn-ea"/>
              </a:rPr>
              <a:t> led to FN</a:t>
            </a:r>
            <a:endParaRPr lang="de-DE" altLang="en-US" sz="2000">
              <a:latin typeface="Calibri" panose="020F0502020204030204" charset="0"/>
              <a:sym typeface="+mn-ea"/>
            </a:endParaRPr>
          </a:p>
          <a:p>
            <a:pPr marL="514350" indent="-514350">
              <a:buAutoNum type="arabicPeriod"/>
            </a:pPr>
            <a:r>
              <a:rPr lang="de-DE" altLang="en-US" sz="2000">
                <a:latin typeface="Calibri" panose="020F0502020204030204" charset="0"/>
                <a:sym typeface="+mn-ea"/>
              </a:rPr>
              <a:t>color/contrast of the nail                          </a:t>
            </a:r>
            <a:r>
              <a:rPr lang="en-US" altLang="en-US" sz="2000">
                <a:sym typeface="+mn-ea"/>
              </a:rPr>
              <a:t>→</a:t>
            </a:r>
            <a:r>
              <a:rPr lang="de-DE" altLang="en-US" sz="2000">
                <a:latin typeface="Calibri" panose="020F0502020204030204" charset="0"/>
                <a:sym typeface="+mn-ea"/>
              </a:rPr>
              <a:t> led to FP and FN</a:t>
            </a:r>
            <a:endParaRPr lang="de-DE" altLang="en-US" sz="2000">
              <a:latin typeface="Calibri" panose="020F0502020204030204" charset="0"/>
              <a:sym typeface="+mn-ea"/>
            </a:endParaRPr>
          </a:p>
          <a:p>
            <a:pPr marL="514350" indent="-514350">
              <a:buAutoNum type="arabicPeriod"/>
            </a:pPr>
            <a:r>
              <a:rPr lang="de-DE" altLang="en-US" sz="2000">
                <a:latin typeface="Calibri" panose="020F0502020204030204" charset="0"/>
                <a:sym typeface="+mn-ea"/>
              </a:rPr>
              <a:t>unlabeled nails in the preprocessing      </a:t>
            </a:r>
            <a:r>
              <a:rPr lang="en-US" altLang="en-US" sz="2000">
                <a:sym typeface="+mn-ea"/>
              </a:rPr>
              <a:t>→</a:t>
            </a:r>
            <a:r>
              <a:rPr lang="de-DE" altLang="en-US" sz="2000">
                <a:latin typeface="Calibri" panose="020F0502020204030204" charset="0"/>
                <a:sym typeface="+mn-ea"/>
              </a:rPr>
              <a:t> </a:t>
            </a:r>
            <a:endParaRPr lang="de-DE" altLang="en-US" sz="2000">
              <a:latin typeface="Calibri" panose="020F0502020204030204" charset="0"/>
              <a:sym typeface="+mn-ea"/>
            </a:endParaRPr>
          </a:p>
        </p:txBody>
      </p:sp>
      <p:sp>
        <p:nvSpPr>
          <p:cNvPr id="5" name="Text Box 4"/>
          <p:cNvSpPr txBox="1"/>
          <p:nvPr/>
        </p:nvSpPr>
        <p:spPr>
          <a:xfrm>
            <a:off x="5690870" y="3174365"/>
            <a:ext cx="6111240" cy="706755"/>
          </a:xfrm>
          <a:prstGeom prst="rect">
            <a:avLst/>
          </a:prstGeom>
          <a:noFill/>
        </p:spPr>
        <p:txBody>
          <a:bodyPr wrap="square" rtlCol="0">
            <a:spAutoFit/>
          </a:bodyPr>
          <a:p>
            <a:r>
              <a:rPr lang="de-DE" altLang="en-US" sz="2000">
                <a:latin typeface="Calibri" panose="020F0502020204030204" charset="0"/>
              </a:rPr>
              <a:t>led to a nigher number of detected nails (good sign that model is learning)</a:t>
            </a:r>
            <a:endParaRPr lang="de-DE" altLang="en-US" sz="2000">
              <a:latin typeface="Calibri" panose="020F0502020204030204" charset="0"/>
            </a:endParaRPr>
          </a:p>
        </p:txBody>
      </p:sp>
      <p:sp>
        <p:nvSpPr>
          <p:cNvPr id="6" name="Text Box 5"/>
          <p:cNvSpPr txBox="1"/>
          <p:nvPr/>
        </p:nvSpPr>
        <p:spPr>
          <a:xfrm>
            <a:off x="929005" y="4377690"/>
            <a:ext cx="10499725" cy="521970"/>
          </a:xfrm>
          <a:prstGeom prst="rect">
            <a:avLst/>
          </a:prstGeom>
          <a:noFill/>
        </p:spPr>
        <p:txBody>
          <a:bodyPr wrap="square" rtlCol="0">
            <a:spAutoFit/>
          </a:bodyPr>
          <a:p>
            <a:r>
              <a:rPr lang="en-US" altLang="en-US" sz="2800">
                <a:sym typeface="+mn-ea"/>
              </a:rPr>
              <a:t>→</a:t>
            </a:r>
            <a:r>
              <a:rPr lang="de-DE" altLang="en-US" sz="2800">
                <a:latin typeface="Calibri" panose="020F0502020204030204" charset="0"/>
                <a:sym typeface="+mn-ea"/>
              </a:rPr>
              <a:t> </a:t>
            </a:r>
            <a:r>
              <a:rPr lang="de-DE" altLang="en-US" sz="2800">
                <a:latin typeface="Calibri" panose="020F0502020204030204" charset="0"/>
              </a:rPr>
              <a:t>Data augmentation can be improved for more accurate results</a:t>
            </a:r>
            <a:endParaRPr lang="de-DE" altLang="en-US" sz="2800">
              <a:latin typeface="Calibri" panose="020F0502020204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250825"/>
            <a:ext cx="10515600" cy="1325563"/>
          </a:xfrm>
        </p:spPr>
        <p:txBody>
          <a:bodyPr/>
          <a:p>
            <a:r>
              <a:rPr lang="de-DE" altLang="en-US" sz="4000">
                <a:latin typeface="Calibri" panose="020F0502020204030204" charset="0"/>
              </a:rPr>
              <a:t>Error Examples</a:t>
            </a:r>
            <a:endParaRPr lang="de-DE" altLang="en-US" sz="4000">
              <a:latin typeface="Calibri" panose="020F0502020204030204" charset="0"/>
            </a:endParaRPr>
          </a:p>
        </p:txBody>
      </p:sp>
      <p:sp>
        <p:nvSpPr>
          <p:cNvPr id="3" name="Content Placeholder 2"/>
          <p:cNvSpPr>
            <a:spLocks noGrp="1"/>
          </p:cNvSpPr>
          <p:nvPr>
            <p:ph sz="half" idx="1"/>
          </p:nvPr>
        </p:nvSpPr>
        <p:spPr>
          <a:xfrm>
            <a:off x="558165" y="1514475"/>
            <a:ext cx="5181600" cy="4351338"/>
          </a:xfrm>
        </p:spPr>
        <p:txBody>
          <a:bodyPr/>
          <a:p>
            <a:endParaRPr lang="de-DE" altLang="en-US" sz="2400">
              <a:latin typeface="Calibri" panose="020F0502020204030204" charset="0"/>
              <a:sym typeface="+mn-ea"/>
            </a:endParaRPr>
          </a:p>
        </p:txBody>
      </p:sp>
      <p:pic>
        <p:nvPicPr>
          <p:cNvPr id="4" name="Content Placeholder 3"/>
          <p:cNvPicPr>
            <a:picLocks noChangeAspect="1"/>
          </p:cNvPicPr>
          <p:nvPr>
            <p:ph sz="half" idx="2"/>
          </p:nvPr>
        </p:nvPicPr>
        <p:blipFill>
          <a:blip r:embed="rId1"/>
          <a:srcRect t="10711" b="10711"/>
          <a:stretch>
            <a:fillRect/>
          </a:stretch>
        </p:blipFill>
        <p:spPr>
          <a:xfrm>
            <a:off x="6403340" y="1514475"/>
            <a:ext cx="2624455" cy="2204720"/>
          </a:xfrm>
        </p:spPr>
      </p:pic>
      <p:pic>
        <p:nvPicPr>
          <p:cNvPr id="5" name="Picture 4"/>
          <p:cNvPicPr>
            <a:picLocks noChangeAspect="1"/>
          </p:cNvPicPr>
          <p:nvPr/>
        </p:nvPicPr>
        <p:blipFill>
          <a:blip r:embed="rId2"/>
          <a:stretch>
            <a:fillRect/>
          </a:stretch>
        </p:blipFill>
        <p:spPr>
          <a:xfrm>
            <a:off x="9692005" y="1514475"/>
            <a:ext cx="2017395" cy="2205355"/>
          </a:xfrm>
          <a:prstGeom prst="rect">
            <a:avLst/>
          </a:prstGeom>
        </p:spPr>
      </p:pic>
      <p:pic>
        <p:nvPicPr>
          <p:cNvPr id="6" name="Picture 5" descr="nail dataset_original_NAILwue_3_(3).jpg_0e4569fd-06d7-4c63-8446-bf8f340b2b8c"/>
          <p:cNvPicPr>
            <a:picLocks noChangeAspect="1"/>
          </p:cNvPicPr>
          <p:nvPr/>
        </p:nvPicPr>
        <p:blipFill>
          <a:blip r:embed="rId3"/>
          <a:stretch>
            <a:fillRect/>
          </a:stretch>
        </p:blipFill>
        <p:spPr>
          <a:xfrm>
            <a:off x="5739765" y="4206875"/>
            <a:ext cx="2293620" cy="2293620"/>
          </a:xfrm>
          <a:prstGeom prst="rect">
            <a:avLst/>
          </a:prstGeom>
        </p:spPr>
      </p:pic>
      <p:pic>
        <p:nvPicPr>
          <p:cNvPr id="7" name="Picture 6"/>
          <p:cNvPicPr>
            <a:picLocks noChangeAspect="1"/>
          </p:cNvPicPr>
          <p:nvPr/>
        </p:nvPicPr>
        <p:blipFill>
          <a:blip r:embed="rId4"/>
          <a:stretch>
            <a:fillRect/>
          </a:stretch>
        </p:blipFill>
        <p:spPr>
          <a:xfrm>
            <a:off x="1906270" y="4206875"/>
            <a:ext cx="2339975" cy="2218055"/>
          </a:xfrm>
          <a:prstGeom prst="rect">
            <a:avLst/>
          </a:prstGeom>
        </p:spPr>
      </p:pic>
      <p:pic>
        <p:nvPicPr>
          <p:cNvPr id="8" name="Picture 7"/>
          <p:cNvPicPr>
            <a:picLocks noChangeAspect="1"/>
          </p:cNvPicPr>
          <p:nvPr/>
        </p:nvPicPr>
        <p:blipFill>
          <a:blip r:embed="rId5"/>
          <a:stretch>
            <a:fillRect/>
          </a:stretch>
        </p:blipFill>
        <p:spPr>
          <a:xfrm>
            <a:off x="742315" y="1514475"/>
            <a:ext cx="2194560" cy="2049780"/>
          </a:xfrm>
          <a:prstGeom prst="rect">
            <a:avLst/>
          </a:prstGeom>
        </p:spPr>
      </p:pic>
      <p:pic>
        <p:nvPicPr>
          <p:cNvPr id="10" name="Picture 9" descr="nail dataset_original_NAILwue_23_(5).jpg_246727c9-eddf-4c25-8908-76af81475364"/>
          <p:cNvPicPr>
            <a:picLocks noChangeAspect="1"/>
          </p:cNvPicPr>
          <p:nvPr/>
        </p:nvPicPr>
        <p:blipFill>
          <a:blip r:embed="rId6"/>
          <a:stretch>
            <a:fillRect/>
          </a:stretch>
        </p:blipFill>
        <p:spPr>
          <a:xfrm>
            <a:off x="3600450" y="1514475"/>
            <a:ext cx="2139315" cy="21393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7" name="Title 6"/>
          <p:cNvSpPr>
            <a:spLocks noGrp="1"/>
          </p:cNvSpPr>
          <p:nvPr>
            <p:ph type="title"/>
          </p:nvPr>
        </p:nvSpPr>
        <p:spPr/>
        <p:txBody>
          <a:bodyPr/>
          <a:p>
            <a:r>
              <a:rPr lang="de-DE" altLang="en-US" sz="3200" b="1">
                <a:latin typeface="Calibri" panose="020F0502020204030204" charset="0"/>
              </a:rPr>
              <a:t>Benchmark Comparison of CNN Models (from Github) for Image Classification</a:t>
            </a:r>
            <a:endParaRPr lang="de-DE" altLang="en-US" sz="3200" b="1">
              <a:latin typeface="Calibri" panose="020F0502020204030204" charset="0"/>
            </a:endParaRPr>
          </a:p>
        </p:txBody>
      </p:sp>
      <p:sp>
        <p:nvSpPr>
          <p:cNvPr id="8" name="Content Placeholder 7"/>
          <p:cNvSpPr>
            <a:spLocks noGrp="1"/>
          </p:cNvSpPr>
          <p:nvPr>
            <p:ph idx="1"/>
          </p:nvPr>
        </p:nvSpPr>
        <p:spPr>
          <a:xfrm>
            <a:off x="781050" y="2425065"/>
            <a:ext cx="10515600" cy="4351338"/>
          </a:xfrm>
        </p:spPr>
        <p:txBody>
          <a:bodyPr/>
          <a:p>
            <a:r>
              <a:rPr lang="de-DE" altLang="en-US" sz="2000" b="1">
                <a:latin typeface="Calibri" panose="020F0502020204030204" charset="0"/>
              </a:rPr>
              <a:t>EfficientNetB0</a:t>
            </a:r>
            <a:r>
              <a:rPr lang="de-DE" altLang="en-US" sz="2000">
                <a:latin typeface="Calibri" panose="020F0502020204030204" charset="0"/>
              </a:rPr>
              <a:t> (high accuracy with low comp cost, lightweight, good for transfer learning)</a:t>
            </a:r>
            <a:endParaRPr lang="de-DE" altLang="en-US" sz="2000">
              <a:latin typeface="Calibri" panose="020F0502020204030204" charset="0"/>
            </a:endParaRPr>
          </a:p>
          <a:p>
            <a:r>
              <a:rPr lang="en-US" altLang="en-US" sz="2000" b="1">
                <a:latin typeface="Calibri" panose="020F0502020204030204" charset="0"/>
              </a:rPr>
              <a:t>Vision Transformer ViT-B/16</a:t>
            </a:r>
            <a:r>
              <a:rPr lang="de-DE" altLang="en-US" sz="2000" b="1">
                <a:latin typeface="Calibri" panose="020F0502020204030204" charset="0"/>
              </a:rPr>
              <a:t> </a:t>
            </a:r>
            <a:r>
              <a:rPr lang="de-DE" altLang="en-US" sz="2000">
                <a:latin typeface="Calibri" panose="020F0502020204030204" charset="0"/>
              </a:rPr>
              <a:t>(requires a large dataset, global understanding of the image, uses self attention, offers explainability </a:t>
            </a:r>
            <a:r>
              <a:rPr lang="en-US" altLang="en-US" sz="2000">
                <a:sym typeface="+mn-ea"/>
              </a:rPr>
              <a:t>→</a:t>
            </a:r>
            <a:r>
              <a:rPr lang="de-DE" altLang="en-US" sz="2000">
                <a:latin typeface="Calibri" panose="020F0502020204030204" charset="0"/>
              </a:rPr>
              <a:t> important for medical uses)</a:t>
            </a:r>
            <a:endParaRPr lang="en-US" altLang="en-US" sz="2000" b="1">
              <a:latin typeface="Calibri" panose="020F0502020204030204" charset="0"/>
            </a:endParaRPr>
          </a:p>
          <a:p>
            <a:r>
              <a:rPr lang="de-DE" altLang="en-US" sz="2000" b="1">
                <a:latin typeface="Calibri" panose="020F0502020204030204" charset="0"/>
              </a:rPr>
              <a:t>ResNet18</a:t>
            </a:r>
            <a:r>
              <a:rPr lang="de-DE" altLang="en-US" sz="2000">
                <a:latin typeface="Calibri" panose="020F0502020204030204" charset="0"/>
              </a:rPr>
              <a:t> (stable learning, high accuracy, good for transfer learning)</a:t>
            </a:r>
            <a:endParaRPr lang="de-DE" altLang="en-US" sz="2000">
              <a:latin typeface="Calibri" panose="020F0502020204030204" charset="0"/>
            </a:endParaRPr>
          </a:p>
          <a:p>
            <a:r>
              <a:rPr lang="de-DE" altLang="en-US" sz="2000" b="1">
                <a:latin typeface="Calibri" panose="020F0502020204030204" charset="0"/>
              </a:rPr>
              <a:t>SwinTransformer</a:t>
            </a:r>
            <a:r>
              <a:rPr lang="de-DE" altLang="en-US" sz="2000">
                <a:latin typeface="Calibri" panose="020F0502020204030204" charset="0"/>
              </a:rPr>
              <a:t> (computationally efficient, strong generalization and transfer learning)</a:t>
            </a:r>
            <a:endParaRPr lang="de-DE" altLang="en-US" sz="2000">
              <a:latin typeface="Calibri" panose="020F0502020204030204" charset="0"/>
            </a:endParaRPr>
          </a:p>
          <a:p>
            <a:r>
              <a:rPr lang="de-DE" altLang="en-US" sz="2000" b="1">
                <a:latin typeface="Calibri" panose="020F0502020204030204" charset="0"/>
              </a:rPr>
              <a:t>Vgg19 </a:t>
            </a:r>
            <a:r>
              <a:rPr lang="de-DE" altLang="en-US" sz="2000">
                <a:latin typeface="Calibri" panose="020F0502020204030204" charset="0"/>
              </a:rPr>
              <a:t>(simple architecure, high accuracy, well-studied, good for explainability)</a:t>
            </a:r>
            <a:endParaRPr lang="de-DE" altLang="en-US" sz="2000" b="1">
              <a:latin typeface="Calibri" panose="020F0502020204030204" charset="0"/>
            </a:endParaRPr>
          </a:p>
          <a:p>
            <a:r>
              <a:rPr lang="de-DE" altLang="en-US" sz="2000" b="1">
                <a:latin typeface="Calibri" panose="020F0502020204030204" charset="0"/>
              </a:rPr>
              <a:t>YOLO </a:t>
            </a:r>
            <a:r>
              <a:rPr lang="de-DE" altLang="en-US" sz="2000">
                <a:latin typeface="Calibri" panose="020F0502020204030204" charset="0"/>
              </a:rPr>
              <a:t>(new versions can be used for image classification as well)</a:t>
            </a:r>
            <a:endParaRPr lang="de-DE" altLang="en-US" sz="2000">
              <a:latin typeface="Calibri" panose="020F0502020204030204" charset="0"/>
            </a:endParaRPr>
          </a:p>
        </p:txBody>
      </p:sp>
      <p:sp>
        <p:nvSpPr>
          <p:cNvPr id="9" name="Text Box 8"/>
          <p:cNvSpPr txBox="1"/>
          <p:nvPr/>
        </p:nvSpPr>
        <p:spPr>
          <a:xfrm>
            <a:off x="3813175" y="1550035"/>
            <a:ext cx="4565650" cy="521970"/>
          </a:xfrm>
          <a:prstGeom prst="rect">
            <a:avLst/>
          </a:prstGeom>
          <a:noFill/>
        </p:spPr>
        <p:txBody>
          <a:bodyPr wrap="square" rtlCol="0">
            <a:spAutoFit/>
          </a:bodyPr>
          <a:p>
            <a:r>
              <a:rPr lang="de-DE" altLang="en-US" sz="2800" b="1">
                <a:latin typeface="Calibri" panose="020F0502020204030204" charset="0"/>
              </a:rPr>
              <a:t>Classes:</a:t>
            </a:r>
            <a:r>
              <a:rPr lang="de-DE" altLang="en-US" sz="2800">
                <a:latin typeface="Calibri" panose="020F0502020204030204" charset="0"/>
              </a:rPr>
              <a:t> </a:t>
            </a:r>
            <a:r>
              <a:rPr lang="de-DE" altLang="en-US" sz="2400">
                <a:latin typeface="Calibri" panose="020F0502020204030204" charset="0"/>
              </a:rPr>
              <a:t>healthy vs melanoma</a:t>
            </a:r>
            <a:endParaRPr lang="de-DE" altLang="en-US" sz="2400">
              <a:latin typeface="Calibri" panose="020F05020202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sz="3600">
                <a:latin typeface="Calibri" panose="020F0502020204030204" charset="0"/>
              </a:rPr>
              <a:t>Dataset Structure</a:t>
            </a:r>
            <a:endParaRPr lang="de-DE" altLang="en-US" sz="3600">
              <a:latin typeface="Calibri" panose="020F0502020204030204" charset="0"/>
            </a:endParaRPr>
          </a:p>
        </p:txBody>
      </p:sp>
      <p:sp>
        <p:nvSpPr>
          <p:cNvPr id="3" name="Content Placeholder 2"/>
          <p:cNvSpPr>
            <a:spLocks noGrp="1"/>
          </p:cNvSpPr>
          <p:nvPr>
            <p:ph idx="1"/>
          </p:nvPr>
        </p:nvSpPr>
        <p:spPr/>
        <p:txBody>
          <a:bodyPr>
            <a:normAutofit lnSpcReduction="10000"/>
          </a:bodyPr>
          <a:p>
            <a:pPr marL="0" indent="0">
              <a:buNone/>
            </a:pPr>
            <a:r>
              <a:rPr lang="de-DE" altLang="en-US">
                <a:latin typeface="Calibri" panose="020F0502020204030204" charset="0"/>
              </a:rPr>
              <a:t> </a:t>
            </a:r>
            <a:r>
              <a:rPr lang="en-US" altLang="en-US">
                <a:sym typeface="+mn-ea"/>
              </a:rPr>
              <a:t>│</a:t>
            </a:r>
            <a:r>
              <a:rPr lang="en-US" altLang="en-US"/>
              <a:t>── train/</a:t>
            </a:r>
            <a:endParaRPr lang="en-US" altLang="en-US"/>
          </a:p>
          <a:p>
            <a:pPr marL="0" indent="0">
              <a:buNone/>
            </a:pPr>
            <a:r>
              <a:rPr lang="de-DE" altLang="en-US">
                <a:latin typeface="Calibri" panose="020F0502020204030204" charset="0"/>
              </a:rPr>
              <a:t> </a:t>
            </a:r>
            <a:r>
              <a:rPr lang="en-US" altLang="en-US"/>
              <a:t>│   </a:t>
            </a:r>
            <a:r>
              <a:rPr lang="en-US" altLang="en-US">
                <a:sym typeface="+mn-ea"/>
              </a:rPr>
              <a:t>│</a:t>
            </a:r>
            <a:r>
              <a:rPr lang="en-US" altLang="en-US"/>
              <a:t>── healthy/</a:t>
            </a:r>
            <a:endParaRPr lang="en-US" altLang="en-US"/>
          </a:p>
          <a:p>
            <a:pPr marL="0" indent="0">
              <a:buNone/>
            </a:pPr>
            <a:r>
              <a:rPr lang="en-US" altLang="en-US"/>
              <a:t> │   └── melanoma/</a:t>
            </a:r>
            <a:endParaRPr lang="en-US" altLang="en-US"/>
          </a:p>
          <a:p>
            <a:pPr marL="0" indent="0">
              <a:buNone/>
            </a:pPr>
            <a:r>
              <a:rPr lang="de-DE" altLang="en-US">
                <a:latin typeface="Calibri" panose="020F0502020204030204" charset="0"/>
              </a:rPr>
              <a:t> </a:t>
            </a:r>
            <a:r>
              <a:rPr lang="en-US" altLang="en-US">
                <a:sym typeface="+mn-ea"/>
              </a:rPr>
              <a:t>│</a:t>
            </a:r>
            <a:r>
              <a:rPr lang="en-US" altLang="en-US"/>
              <a:t>── test/</a:t>
            </a:r>
            <a:endParaRPr lang="en-US" altLang="en-US"/>
          </a:p>
          <a:p>
            <a:pPr marL="0" indent="0">
              <a:buNone/>
            </a:pPr>
            <a:r>
              <a:rPr lang="de-DE" altLang="en-US">
                <a:latin typeface="Calibri" panose="020F0502020204030204" charset="0"/>
              </a:rPr>
              <a:t> </a:t>
            </a:r>
            <a:r>
              <a:rPr lang="en-US" altLang="en-US"/>
              <a:t>│   </a:t>
            </a:r>
            <a:r>
              <a:rPr lang="en-US" altLang="en-US">
                <a:sym typeface="+mn-ea"/>
              </a:rPr>
              <a:t>│</a:t>
            </a:r>
            <a:r>
              <a:rPr lang="en-US" altLang="en-US"/>
              <a:t>── healthy/</a:t>
            </a:r>
            <a:endParaRPr lang="en-US" altLang="en-US"/>
          </a:p>
          <a:p>
            <a:pPr marL="0" indent="0">
              <a:buNone/>
            </a:pPr>
            <a:r>
              <a:rPr lang="de-DE" altLang="en-US">
                <a:latin typeface="Calibri" panose="020F0502020204030204" charset="0"/>
              </a:rPr>
              <a:t> </a:t>
            </a:r>
            <a:r>
              <a:rPr lang="en-US" altLang="en-US"/>
              <a:t>│   └── melanoma/</a:t>
            </a:r>
            <a:endParaRPr lang="en-US" altLang="en-US"/>
          </a:p>
          <a:p>
            <a:pPr marL="0" indent="0">
              <a:buNone/>
            </a:pPr>
            <a:r>
              <a:rPr lang="de-DE" altLang="en-US">
                <a:latin typeface="Calibri" panose="020F0502020204030204" charset="0"/>
                <a:sym typeface="+mn-ea"/>
              </a:rPr>
              <a:t> </a:t>
            </a:r>
            <a:r>
              <a:rPr lang="en-US" altLang="en-US">
                <a:sym typeface="+mn-ea"/>
              </a:rPr>
              <a:t>│</a:t>
            </a:r>
            <a:r>
              <a:rPr lang="en-US" altLang="en-US"/>
              <a:t>── val/</a:t>
            </a:r>
            <a:endParaRPr lang="en-US" altLang="en-US"/>
          </a:p>
          <a:p>
            <a:pPr marL="0" indent="0">
              <a:buNone/>
            </a:pPr>
            <a:r>
              <a:rPr lang="de-DE" altLang="en-US">
                <a:latin typeface="Calibri" panose="020F0502020204030204" charset="0"/>
              </a:rPr>
              <a:t> </a:t>
            </a:r>
            <a:r>
              <a:rPr lang="en-US" altLang="en-US">
                <a:sym typeface="+mn-ea"/>
              </a:rPr>
              <a:t>│</a:t>
            </a:r>
            <a:r>
              <a:rPr lang="de-DE" altLang="en-US">
                <a:latin typeface="Calibri" panose="020F0502020204030204" charset="0"/>
              </a:rPr>
              <a:t>   </a:t>
            </a:r>
            <a:r>
              <a:rPr lang="en-US" altLang="en-US"/>
              <a:t> </a:t>
            </a:r>
            <a:r>
              <a:rPr lang="en-US" altLang="en-US">
                <a:sym typeface="+mn-ea"/>
              </a:rPr>
              <a:t>│</a:t>
            </a:r>
            <a:r>
              <a:rPr lang="en-US" altLang="en-US"/>
              <a:t>── healthy/</a:t>
            </a:r>
            <a:endParaRPr lang="en-US" altLang="en-US"/>
          </a:p>
          <a:p>
            <a:pPr marL="0" indent="0">
              <a:buNone/>
            </a:pPr>
            <a:r>
              <a:rPr lang="de-DE" altLang="en-US">
                <a:latin typeface="Calibri" panose="020F0502020204030204" charset="0"/>
              </a:rPr>
              <a:t> </a:t>
            </a:r>
            <a:r>
              <a:rPr lang="en-US" altLang="en-US">
                <a:sym typeface="+mn-ea"/>
              </a:rPr>
              <a:t>│</a:t>
            </a:r>
            <a:r>
              <a:rPr lang="de-DE" altLang="en-US">
                <a:latin typeface="Calibri" panose="020F0502020204030204" charset="0"/>
              </a:rPr>
              <a:t> </a:t>
            </a:r>
            <a:r>
              <a:rPr lang="en-US" altLang="en-US"/>
              <a:t>   └── melanoma/</a:t>
            </a: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86995"/>
            <a:ext cx="10515600" cy="1325563"/>
          </a:xfrm>
        </p:spPr>
        <p:txBody>
          <a:bodyPr/>
          <a:p>
            <a:r>
              <a:rPr lang="de-DE" altLang="en-US" sz="3600">
                <a:latin typeface="Calibri" panose="020F0502020204030204" charset="0"/>
              </a:rPr>
              <a:t>EfficientNetB0 (batch size: 32, epochs: 10)</a:t>
            </a:r>
            <a:endParaRPr lang="de-DE" altLang="en-US" sz="3600">
              <a:latin typeface="Calibri" panose="020F0502020204030204" charset="0"/>
            </a:endParaRPr>
          </a:p>
        </p:txBody>
      </p:sp>
      <p:pic>
        <p:nvPicPr>
          <p:cNvPr id="5" name="Picture 4"/>
          <p:cNvPicPr/>
          <p:nvPr/>
        </p:nvPicPr>
        <p:blipFill>
          <a:blip r:embed="rId1"/>
          <a:stretch>
            <a:fillRect/>
          </a:stretch>
        </p:blipFill>
        <p:spPr>
          <a:xfrm>
            <a:off x="2800350" y="1288415"/>
            <a:ext cx="6591300" cy="2633980"/>
          </a:xfrm>
          <a:prstGeom prst="rect">
            <a:avLst/>
          </a:prstGeom>
        </p:spPr>
      </p:pic>
      <p:sp>
        <p:nvSpPr>
          <p:cNvPr id="6" name="Content Placeholder 5"/>
          <p:cNvSpPr/>
          <p:nvPr>
            <p:ph idx="1"/>
          </p:nvPr>
        </p:nvSpPr>
        <p:spPr>
          <a:xfrm>
            <a:off x="477520" y="4355465"/>
            <a:ext cx="10515600" cy="2857500"/>
          </a:xfrm>
        </p:spPr>
        <p:txBody>
          <a:bodyPr/>
          <a:p>
            <a:r>
              <a:rPr lang="de-DE" altLang="en-US" sz="1800" b="1">
                <a:latin typeface="Calibri" panose="020F0502020204030204" charset="0"/>
              </a:rPr>
              <a:t>train accuracy:</a:t>
            </a:r>
            <a:r>
              <a:rPr lang="de-DE" altLang="en-US" sz="1800">
                <a:latin typeface="Calibri" panose="020F0502020204030204" charset="0"/>
              </a:rPr>
              <a:t> its variability shows that the model is unstable during training </a:t>
            </a:r>
            <a:endParaRPr lang="de-DE" altLang="en-US" sz="1800">
              <a:latin typeface="Calibri" panose="020F0502020204030204" charset="0"/>
            </a:endParaRPr>
          </a:p>
          <a:p>
            <a:r>
              <a:rPr lang="de-DE" altLang="en-US" sz="1800" b="1">
                <a:latin typeface="Calibri" panose="020F0502020204030204" charset="0"/>
              </a:rPr>
              <a:t>validation accuracy:</a:t>
            </a:r>
            <a:r>
              <a:rPr lang="de-DE" altLang="en-US" sz="1800">
                <a:latin typeface="Calibri" panose="020F0502020204030204" charset="0"/>
              </a:rPr>
              <a:t> remains flat around 0.745-0.75, showing no real improvement</a:t>
            </a:r>
            <a:endParaRPr lang="de-DE" altLang="en-US" sz="1800">
              <a:latin typeface="Calibri" panose="020F0502020204030204" charset="0"/>
            </a:endParaRPr>
          </a:p>
          <a:p>
            <a:r>
              <a:rPr lang="de-DE" altLang="en-US" sz="1800" b="1">
                <a:latin typeface="Calibri" panose="020F0502020204030204" charset="0"/>
              </a:rPr>
              <a:t>train loss:</a:t>
            </a:r>
            <a:r>
              <a:rPr lang="de-DE" altLang="en-US" sz="1800">
                <a:latin typeface="Calibri" panose="020F0502020204030204" charset="0"/>
              </a:rPr>
              <a:t> varies irregularly, not stable </a:t>
            </a:r>
            <a:endParaRPr lang="de-DE" altLang="en-US" sz="1800">
              <a:latin typeface="Calibri" panose="020F0502020204030204" charset="0"/>
            </a:endParaRPr>
          </a:p>
          <a:p>
            <a:r>
              <a:rPr lang="de-DE" altLang="en-US" sz="1800" b="1">
                <a:latin typeface="Calibri" panose="020F0502020204030204" charset="0"/>
              </a:rPr>
              <a:t>validation loss:</a:t>
            </a:r>
            <a:r>
              <a:rPr lang="de-DE" altLang="en-US" sz="1800">
                <a:latin typeface="Calibri" panose="020F0502020204030204" charset="0"/>
              </a:rPr>
              <a:t> starts high, varies a lot and stays high in the end  </a:t>
            </a:r>
            <a:endParaRPr lang="de-DE" altLang="en-US" sz="1800">
              <a:latin typeface="Calibri" panose="020F0502020204030204" charset="0"/>
            </a:endParaRPr>
          </a:p>
          <a:p>
            <a:endParaRPr lang="de-DE" altLang="en-US" sz="1800">
              <a:latin typeface="Calibri" panose="020F0502020204030204" charset="0"/>
            </a:endParaRPr>
          </a:p>
        </p:txBody>
      </p:sp>
      <p:sp>
        <p:nvSpPr>
          <p:cNvPr id="7" name="Right Brace 6"/>
          <p:cNvSpPr/>
          <p:nvPr>
            <p:custDataLst>
              <p:tags r:id="rId2"/>
            </p:custDataLst>
          </p:nvPr>
        </p:nvSpPr>
        <p:spPr>
          <a:xfrm>
            <a:off x="8495030" y="4280535"/>
            <a:ext cx="358775" cy="738505"/>
          </a:xfrm>
          <a:prstGeom prst="rightBrac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de-DE" altLang="en-US">
              <a:latin typeface="Calibri" panose="020F0502020204030204" charset="0"/>
            </a:endParaRPr>
          </a:p>
        </p:txBody>
      </p:sp>
      <p:sp>
        <p:nvSpPr>
          <p:cNvPr id="9" name="Right Brace 8"/>
          <p:cNvSpPr/>
          <p:nvPr>
            <p:custDataLst>
              <p:tags r:id="rId3"/>
            </p:custDataLst>
          </p:nvPr>
        </p:nvSpPr>
        <p:spPr>
          <a:xfrm>
            <a:off x="8495030" y="5145405"/>
            <a:ext cx="358775" cy="738505"/>
          </a:xfrm>
          <a:prstGeom prst="rightBrac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de-DE" altLang="en-US">
              <a:latin typeface="Calibri" panose="020F0502020204030204" charset="0"/>
            </a:endParaRPr>
          </a:p>
        </p:txBody>
      </p:sp>
      <p:sp>
        <p:nvSpPr>
          <p:cNvPr id="10" name="Text Box 9"/>
          <p:cNvSpPr txBox="1"/>
          <p:nvPr>
            <p:custDataLst>
              <p:tags r:id="rId4"/>
            </p:custDataLst>
          </p:nvPr>
        </p:nvSpPr>
        <p:spPr>
          <a:xfrm>
            <a:off x="9053830" y="4280535"/>
            <a:ext cx="2891790" cy="737235"/>
          </a:xfrm>
          <a:prstGeom prst="rect">
            <a:avLst/>
          </a:prstGeom>
          <a:noFill/>
        </p:spPr>
        <p:txBody>
          <a:bodyPr wrap="square" rtlCol="0">
            <a:spAutoFit/>
          </a:bodyPr>
          <a:p>
            <a:r>
              <a:rPr lang="de-DE" altLang="en-US" sz="1400" b="1">
                <a:latin typeface="Calibri" panose="020F0502020204030204" charset="0"/>
              </a:rPr>
              <a:t>sign of overfitting: </a:t>
            </a:r>
            <a:r>
              <a:rPr lang="de-DE" altLang="en-US" sz="1400">
                <a:latin typeface="Calibri" panose="020F0502020204030204" charset="0"/>
              </a:rPr>
              <a:t>learns the training data inconsistently and fails to classify the unseen data</a:t>
            </a:r>
            <a:endParaRPr lang="de-DE" altLang="en-US" sz="1400">
              <a:latin typeface="Calibri" panose="020F0502020204030204" charset="0"/>
            </a:endParaRPr>
          </a:p>
        </p:txBody>
      </p:sp>
      <p:sp>
        <p:nvSpPr>
          <p:cNvPr id="11" name="Text Box 10"/>
          <p:cNvSpPr txBox="1"/>
          <p:nvPr>
            <p:custDataLst>
              <p:tags r:id="rId5"/>
            </p:custDataLst>
          </p:nvPr>
        </p:nvSpPr>
        <p:spPr>
          <a:xfrm>
            <a:off x="9053830" y="5203190"/>
            <a:ext cx="2910205" cy="737235"/>
          </a:xfrm>
          <a:prstGeom prst="rect">
            <a:avLst/>
          </a:prstGeom>
        </p:spPr>
        <p:txBody>
          <a:bodyPr wrap="square">
            <a:spAutoFit/>
          </a:bodyPr>
          <a:p>
            <a:r>
              <a:rPr sz="1400"/>
              <a:t>Validation loss </a:t>
            </a:r>
            <a:r>
              <a:rPr sz="1400" b="1"/>
              <a:t>not decreasing</a:t>
            </a:r>
            <a:r>
              <a:rPr sz="1400"/>
              <a:t> means the model isn’t improving its generalization</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0"/>
            <a:ext cx="10515600" cy="1325563"/>
          </a:xfrm>
        </p:spPr>
        <p:txBody>
          <a:bodyPr/>
          <a:p>
            <a:r>
              <a:rPr lang="de-DE" altLang="en-US" sz="2800">
                <a:latin typeface="Calibri" panose="020F0502020204030204" charset="0"/>
              </a:rPr>
              <a:t>Confusion Matrix and other Metrics</a:t>
            </a:r>
            <a:endParaRPr lang="de-DE" altLang="en-US" sz="2800">
              <a:latin typeface="Calibri" panose="020F0502020204030204" charset="0"/>
            </a:endParaRPr>
          </a:p>
        </p:txBody>
      </p:sp>
      <p:sp>
        <p:nvSpPr>
          <p:cNvPr id="3" name="Content Placeholder 2"/>
          <p:cNvSpPr>
            <a:spLocks noGrp="1"/>
          </p:cNvSpPr>
          <p:nvPr>
            <p:ph idx="1"/>
          </p:nvPr>
        </p:nvSpPr>
        <p:spPr>
          <a:xfrm>
            <a:off x="457835" y="1262380"/>
            <a:ext cx="6485255" cy="5393690"/>
          </a:xfrm>
        </p:spPr>
        <p:txBody>
          <a:bodyPr>
            <a:normAutofit lnSpcReduction="10000"/>
          </a:bodyPr>
          <a:p>
            <a:pPr marL="0" indent="0">
              <a:buNone/>
            </a:pPr>
            <a:r>
              <a:rPr lang="en-US" altLang="en-US" sz="1800"/>
              <a:t>The model classifies </a:t>
            </a:r>
            <a:r>
              <a:rPr lang="en-US" altLang="en-US" sz="1800" b="1"/>
              <a:t>every </a:t>
            </a:r>
            <a:r>
              <a:rPr lang="en-US" altLang="en-US" sz="1800"/>
              <a:t>image as “Healthy”, no matter what the true label is.</a:t>
            </a:r>
            <a:endParaRPr lang="en-US" altLang="en-US" sz="1800"/>
          </a:p>
          <a:p>
            <a:pPr lvl="1"/>
            <a:r>
              <a:rPr lang="en-US" altLang="en-US" sz="1600"/>
              <a:t>All Healthy </a:t>
            </a:r>
            <a:r>
              <a:rPr lang="de-DE" altLang="en-US" sz="1600">
                <a:latin typeface="Calibri" panose="020F0502020204030204" charset="0"/>
              </a:rPr>
              <a:t>images</a:t>
            </a:r>
            <a:r>
              <a:rPr lang="en-US" altLang="en-US" sz="1600"/>
              <a:t> are predicted correctly (T</a:t>
            </a:r>
            <a:r>
              <a:rPr lang="de-DE" altLang="en-US" sz="1600">
                <a:latin typeface="Calibri" panose="020F0502020204030204" charset="0"/>
              </a:rPr>
              <a:t>P</a:t>
            </a:r>
            <a:r>
              <a:rPr lang="en-US" altLang="en-US" sz="1600"/>
              <a:t>).</a:t>
            </a:r>
            <a:endParaRPr lang="en-US" altLang="en-US" sz="1800"/>
          </a:p>
          <a:p>
            <a:pPr lvl="1"/>
            <a:r>
              <a:rPr lang="en-US" altLang="en-US" sz="1540"/>
              <a:t>All </a:t>
            </a:r>
            <a:r>
              <a:rPr lang="de-DE" altLang="en-US" sz="1540">
                <a:latin typeface="Calibri" panose="020F0502020204030204" charset="0"/>
              </a:rPr>
              <a:t> </a:t>
            </a:r>
            <a:r>
              <a:rPr lang="en-US" altLang="en-US" sz="1540"/>
              <a:t>Melanoma</a:t>
            </a:r>
            <a:r>
              <a:rPr lang="de-DE" altLang="en-US" sz="1540">
                <a:latin typeface="Calibri" panose="020F0502020204030204" charset="0"/>
              </a:rPr>
              <a:t> images</a:t>
            </a:r>
            <a:r>
              <a:rPr lang="en-US" altLang="en-US" sz="1540"/>
              <a:t> are incorrectly classified as Healthy (FN).</a:t>
            </a:r>
            <a:endParaRPr lang="en-US" altLang="en-US" sz="1800"/>
          </a:p>
          <a:p>
            <a:pPr marL="0" indent="0">
              <a:buNone/>
            </a:pPr>
            <a:r>
              <a:rPr lang="de-DE" altLang="en-US" sz="1800">
                <a:latin typeface="Calibri" panose="020F0502020204030204" charset="0"/>
              </a:rPr>
              <a:t>Th</a:t>
            </a:r>
            <a:r>
              <a:rPr lang="en-US" altLang="en-US" sz="1800"/>
              <a:t>e model fails to detect Melanoma cases.</a:t>
            </a:r>
            <a:endParaRPr lang="en-US" altLang="en-US" sz="1800"/>
          </a:p>
          <a:p>
            <a:pPr marL="0" indent="0">
              <a:buNone/>
            </a:pPr>
            <a:r>
              <a:rPr lang="en-US" altLang="en-US" sz="1800" b="1"/>
              <a:t>Healthy class:</a:t>
            </a:r>
            <a:endParaRPr lang="en-US" altLang="en-US" sz="1800" b="1"/>
          </a:p>
          <a:p>
            <a:pPr lvl="1"/>
            <a:r>
              <a:rPr lang="en-US" altLang="en-US" sz="1540"/>
              <a:t>F1 = 0.86 </a:t>
            </a:r>
            <a:r>
              <a:rPr lang="de-DE" altLang="en-US" sz="1540">
                <a:latin typeface="Calibri" panose="020F0502020204030204" charset="0"/>
              </a:rPr>
              <a:t>: </a:t>
            </a:r>
            <a:r>
              <a:rPr lang="en-US" altLang="en-US" sz="1540"/>
              <a:t>good  because this class dominates.</a:t>
            </a:r>
            <a:endParaRPr lang="en-US" altLang="en-US" sz="1800"/>
          </a:p>
          <a:p>
            <a:pPr marL="0" indent="0">
              <a:buNone/>
            </a:pPr>
            <a:r>
              <a:rPr lang="en-US" altLang="en-US" sz="1800" b="1"/>
              <a:t>Melanoma class:</a:t>
            </a:r>
            <a:endParaRPr lang="en-US" altLang="en-US" sz="1800" b="1"/>
          </a:p>
          <a:p>
            <a:pPr lvl="1"/>
            <a:r>
              <a:rPr lang="en-US" altLang="en-US" sz="1540"/>
              <a:t>Precision = 0.00, Recall = 0.00 → the model never predicts this class.</a:t>
            </a:r>
            <a:endParaRPr lang="en-US" altLang="en-US" sz="1540"/>
          </a:p>
          <a:p>
            <a:pPr lvl="1"/>
            <a:r>
              <a:rPr lang="en-US" altLang="en-US" sz="1540"/>
              <a:t>F1 = 0.00 → total failure to recognize Melanoma.</a:t>
            </a:r>
            <a:endParaRPr lang="en-US" altLang="en-US" sz="1540"/>
          </a:p>
          <a:p>
            <a:pPr marL="0" lvl="0" indent="0">
              <a:buNone/>
            </a:pPr>
            <a:r>
              <a:rPr lang="de-DE" altLang="en-US" sz="1795" b="1">
                <a:latin typeface="Calibri" panose="020F0502020204030204" charset="0"/>
              </a:rPr>
              <a:t>Conclusion: </a:t>
            </a:r>
            <a:endParaRPr lang="de-DE" altLang="en-US" sz="1795" b="1">
              <a:latin typeface="Calibri" panose="020F0502020204030204" charset="0"/>
            </a:endParaRPr>
          </a:p>
          <a:p>
            <a:pPr lvl="1"/>
            <a:r>
              <a:rPr lang="en-US" altLang="en-US" sz="1535">
                <a:latin typeface="Calibri" panose="020F0502020204030204" charset="0"/>
              </a:rPr>
              <a:t>The model learned only the majority class (Healthy)</a:t>
            </a:r>
            <a:endParaRPr lang="en-US" altLang="en-US" sz="1535">
              <a:latin typeface="Calibri" panose="020F0502020204030204" charset="0"/>
            </a:endParaRPr>
          </a:p>
          <a:p>
            <a:pPr lvl="1"/>
            <a:r>
              <a:rPr lang="en-US" altLang="en-US" sz="1535">
                <a:latin typeface="Calibri" panose="020F0502020204030204" charset="0"/>
              </a:rPr>
              <a:t>Severe bias likely caused by class imbalance (too few Melanoma </a:t>
            </a:r>
            <a:r>
              <a:rPr lang="de-DE" altLang="en-US" sz="1535">
                <a:latin typeface="Calibri" panose="020F0502020204030204" charset="0"/>
              </a:rPr>
              <a:t>nails</a:t>
            </a:r>
            <a:r>
              <a:rPr lang="en-US" altLang="en-US" sz="1535">
                <a:latin typeface="Calibri" panose="020F0502020204030204" charset="0"/>
              </a:rPr>
              <a:t>)</a:t>
            </a:r>
            <a:endParaRPr lang="en-US" altLang="en-US" sz="1535">
              <a:latin typeface="Calibri" panose="020F0502020204030204" charset="0"/>
            </a:endParaRPr>
          </a:p>
        </p:txBody>
      </p:sp>
      <p:pic>
        <p:nvPicPr>
          <p:cNvPr id="4" name="Picture 3"/>
          <p:cNvPicPr/>
          <p:nvPr/>
        </p:nvPicPr>
        <p:blipFill>
          <a:blip r:embed="rId1"/>
          <a:stretch>
            <a:fillRect/>
          </a:stretch>
        </p:blipFill>
        <p:spPr>
          <a:xfrm>
            <a:off x="7350760" y="1262380"/>
            <a:ext cx="3814445" cy="3333750"/>
          </a:xfrm>
          <a:prstGeom prst="rect">
            <a:avLst/>
          </a:prstGeom>
        </p:spPr>
      </p:pic>
      <p:pic>
        <p:nvPicPr>
          <p:cNvPr id="5" name="Picture 4"/>
          <p:cNvPicPr>
            <a:picLocks noChangeAspect="1"/>
          </p:cNvPicPr>
          <p:nvPr/>
        </p:nvPicPr>
        <p:blipFill>
          <a:blip r:embed="rId2"/>
          <a:stretch>
            <a:fillRect/>
          </a:stretch>
        </p:blipFill>
        <p:spPr>
          <a:xfrm>
            <a:off x="7162800" y="4966970"/>
            <a:ext cx="4191000" cy="14706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184785"/>
            <a:ext cx="10515600" cy="1325563"/>
          </a:xfrm>
        </p:spPr>
        <p:txBody>
          <a:bodyPr/>
          <a:p>
            <a:r>
              <a:rPr lang="en-US" altLang="en-US" sz="3600">
                <a:latin typeface="Calibri" panose="020F0502020204030204" charset="0"/>
                <a:sym typeface="+mn-ea"/>
              </a:rPr>
              <a:t>Vision Transformer ViT-B/16</a:t>
            </a:r>
            <a:r>
              <a:rPr lang="de-DE" altLang="en-US" sz="3600">
                <a:latin typeface="Calibri" panose="020F0502020204030204" charset="0"/>
                <a:sym typeface="+mn-ea"/>
              </a:rPr>
              <a:t> (batch size: 32, epochs: 10)</a:t>
            </a:r>
            <a:endParaRPr lang="de-DE" altLang="en-US" sz="3600">
              <a:latin typeface="Calibri" panose="020F0502020204030204" charset="0"/>
              <a:sym typeface="+mn-ea"/>
            </a:endParaRPr>
          </a:p>
        </p:txBody>
      </p:sp>
      <p:sp>
        <p:nvSpPr>
          <p:cNvPr id="3" name="Content Placeholder 2"/>
          <p:cNvSpPr>
            <a:spLocks noGrp="1"/>
          </p:cNvSpPr>
          <p:nvPr>
            <p:ph idx="1"/>
          </p:nvPr>
        </p:nvSpPr>
        <p:spPr>
          <a:xfrm>
            <a:off x="535305" y="5107305"/>
            <a:ext cx="4999355" cy="1960880"/>
          </a:xfrm>
        </p:spPr>
        <p:txBody>
          <a:bodyPr>
            <a:normAutofit lnSpcReduction="20000"/>
          </a:bodyPr>
          <a:p>
            <a:pPr marL="0" indent="0">
              <a:buNone/>
            </a:pPr>
            <a:r>
              <a:rPr lang="de-DE" altLang="en-US" sz="1800" b="1">
                <a:latin typeface="Calibri" panose="020F0502020204030204" charset="0"/>
              </a:rPr>
              <a:t>Loss curves :</a:t>
            </a:r>
            <a:endParaRPr lang="en-US" altLang="en-US" sz="1800" b="1"/>
          </a:p>
          <a:p>
            <a:pPr lvl="1"/>
            <a:r>
              <a:rPr lang="en-US" altLang="en-US" sz="1600"/>
              <a:t>Both training loss and test loss steadily decrease with epochs</a:t>
            </a:r>
            <a:endParaRPr lang="en-US" altLang="en-US" sz="1600"/>
          </a:p>
          <a:p>
            <a:pPr lvl="1"/>
            <a:r>
              <a:rPr lang="en-US" altLang="en-US" sz="1600"/>
              <a:t>The model is learning effectively and generalizing well</a:t>
            </a:r>
            <a:endParaRPr lang="en-US" altLang="en-US" sz="1600"/>
          </a:p>
          <a:p>
            <a:pPr lvl="1"/>
            <a:r>
              <a:rPr lang="de-DE" altLang="en-US" sz="1600">
                <a:latin typeface="Calibri" panose="020F0502020204030204" charset="0"/>
              </a:rPr>
              <a:t>No major overfitting</a:t>
            </a:r>
            <a:endParaRPr lang="de-DE" altLang="en-US" sz="1600">
              <a:latin typeface="Calibri" panose="020F0502020204030204" charset="0"/>
            </a:endParaRPr>
          </a:p>
        </p:txBody>
      </p:sp>
      <p:pic>
        <p:nvPicPr>
          <p:cNvPr id="4" name="Picture 3"/>
          <p:cNvPicPr/>
          <p:nvPr/>
        </p:nvPicPr>
        <p:blipFill>
          <a:blip r:embed="rId1"/>
          <a:stretch>
            <a:fillRect/>
          </a:stretch>
        </p:blipFill>
        <p:spPr>
          <a:xfrm>
            <a:off x="3013710" y="1384300"/>
            <a:ext cx="5895975" cy="3260725"/>
          </a:xfrm>
          <a:prstGeom prst="rect">
            <a:avLst/>
          </a:prstGeom>
        </p:spPr>
      </p:pic>
      <p:sp>
        <p:nvSpPr>
          <p:cNvPr id="6" name="Text Box 5"/>
          <p:cNvSpPr txBox="1"/>
          <p:nvPr/>
        </p:nvSpPr>
        <p:spPr>
          <a:xfrm>
            <a:off x="5885815" y="5107305"/>
            <a:ext cx="5916295" cy="1322070"/>
          </a:xfrm>
          <a:prstGeom prst="rect">
            <a:avLst/>
          </a:prstGeom>
          <a:noFill/>
        </p:spPr>
        <p:txBody>
          <a:bodyPr wrap="square" rtlCol="0">
            <a:spAutoFit/>
          </a:bodyPr>
          <a:p>
            <a:r>
              <a:rPr lang="de-DE" altLang="en-US" sz="1600" b="1">
                <a:latin typeface="Calibri" panose="020F0502020204030204" charset="0"/>
              </a:rPr>
              <a:t>Accuracy Curves:</a:t>
            </a:r>
            <a:endParaRPr lang="de-DE" altLang="en-US" sz="1600" b="1">
              <a:latin typeface="Calibri" panose="020F0502020204030204" charset="0"/>
            </a:endParaRPr>
          </a:p>
          <a:p>
            <a:pPr marL="742950" lvl="1" indent="-285750">
              <a:buFont typeface="Arial" panose="020B0604020202020204" pitchFamily="34" charset="0"/>
              <a:buChar char="•"/>
            </a:pPr>
            <a:r>
              <a:rPr lang="en-US" altLang="en-US" sz="1600">
                <a:latin typeface="Calibri" panose="020F0502020204030204" charset="0"/>
              </a:rPr>
              <a:t>Training accuracy increases quickly to almost 1.0.</a:t>
            </a:r>
            <a:endParaRPr lang="en-US" altLang="en-US" sz="1600">
              <a:latin typeface="Calibri" panose="020F0502020204030204" charset="0"/>
            </a:endParaRPr>
          </a:p>
          <a:p>
            <a:pPr marL="742950" lvl="1" indent="-285750">
              <a:buFont typeface="Arial" panose="020B0604020202020204" pitchFamily="34" charset="0"/>
              <a:buChar char="•"/>
            </a:pPr>
            <a:r>
              <a:rPr lang="en-US" altLang="en-US" sz="1600">
                <a:latin typeface="Calibri" panose="020F0502020204030204" charset="0"/>
              </a:rPr>
              <a:t>Test accuracy increases similarly, also approaching 1.0</a:t>
            </a:r>
            <a:endParaRPr lang="en-US" altLang="en-US" sz="1600">
              <a:latin typeface="Calibri" panose="020F0502020204030204" charset="0"/>
            </a:endParaRPr>
          </a:p>
          <a:p>
            <a:pPr marL="742950" lvl="1" indent="-285750">
              <a:buFont typeface="Arial" panose="020B0604020202020204" pitchFamily="34" charset="0"/>
              <a:buChar char="•"/>
            </a:pPr>
            <a:r>
              <a:rPr lang="de-DE" altLang="en-US" sz="1600">
                <a:latin typeface="Calibri" panose="020F0502020204030204" charset="0"/>
              </a:rPr>
              <a:t>The model is achieving a good performance on both sets.</a:t>
            </a:r>
            <a:endParaRPr lang="de-DE" altLang="en-US" sz="1600">
              <a:latin typeface="Calibri" panose="020F0502020204030204" charset="0"/>
            </a:endParaRPr>
          </a:p>
          <a:p>
            <a:pPr marL="742950" lvl="1" indent="-285750">
              <a:buFont typeface="Arial" panose="020B0604020202020204" pitchFamily="34" charset="0"/>
              <a:buChar char="•"/>
            </a:pPr>
            <a:r>
              <a:rPr lang="de-DE" altLang="en-US" sz="1600">
                <a:latin typeface="Calibri" panose="020F0502020204030204" charset="0"/>
              </a:rPr>
              <a:t>stable learning</a:t>
            </a:r>
            <a:endParaRPr lang="de-DE" altLang="en-US" sz="1600">
              <a:latin typeface="Calibri" panose="020F050202020403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251460"/>
            <a:ext cx="10515600" cy="1325563"/>
          </a:xfrm>
        </p:spPr>
        <p:txBody>
          <a:bodyPr/>
          <a:p>
            <a:endParaRPr lang="de-DE" sz="2800">
              <a:latin typeface="Calibri" panose="020F0502020204030204" charset="0"/>
              <a:sym typeface="+mn-ea"/>
            </a:endParaRPr>
          </a:p>
        </p:txBody>
      </p:sp>
      <p:pic>
        <p:nvPicPr>
          <p:cNvPr id="5" name="Content Placeholder 4"/>
          <p:cNvPicPr>
            <a:picLocks noChangeAspect="1"/>
          </p:cNvPicPr>
          <p:nvPr>
            <p:ph idx="1"/>
          </p:nvPr>
        </p:nvPicPr>
        <p:blipFill>
          <a:blip r:embed="rId1"/>
          <a:stretch>
            <a:fillRect/>
          </a:stretch>
        </p:blipFill>
        <p:spPr>
          <a:xfrm>
            <a:off x="8006080" y="4773295"/>
            <a:ext cx="3407410" cy="1712595"/>
          </a:xfrm>
          <a:prstGeom prst="rect">
            <a:avLst/>
          </a:prstGeom>
        </p:spPr>
      </p:pic>
      <p:pic>
        <p:nvPicPr>
          <p:cNvPr id="4" name="Picture 3"/>
          <p:cNvPicPr/>
          <p:nvPr/>
        </p:nvPicPr>
        <p:blipFill>
          <a:blip r:embed="rId2"/>
          <a:stretch>
            <a:fillRect/>
          </a:stretch>
        </p:blipFill>
        <p:spPr>
          <a:xfrm>
            <a:off x="7910830" y="824865"/>
            <a:ext cx="3841750" cy="3457575"/>
          </a:xfrm>
          <a:prstGeom prst="rect">
            <a:avLst/>
          </a:prstGeom>
        </p:spPr>
      </p:pic>
      <p:sp>
        <p:nvSpPr>
          <p:cNvPr id="6" name="Text Box 5"/>
          <p:cNvSpPr txBox="1"/>
          <p:nvPr/>
        </p:nvSpPr>
        <p:spPr>
          <a:xfrm>
            <a:off x="581660" y="1654175"/>
            <a:ext cx="6182360" cy="4410710"/>
          </a:xfrm>
          <a:prstGeom prst="rect">
            <a:avLst/>
          </a:prstGeom>
          <a:noFill/>
        </p:spPr>
        <p:txBody>
          <a:bodyPr wrap="square" rtlCol="0">
            <a:noAutofit/>
          </a:bodyPr>
          <a:p>
            <a:r>
              <a:rPr lang="en-US" altLang="en-US"/>
              <a:t>363 healthy </a:t>
            </a:r>
            <a:r>
              <a:rPr lang="de-DE" altLang="en-US">
                <a:latin typeface="Calibri" panose="020F0502020204030204" charset="0"/>
              </a:rPr>
              <a:t>images</a:t>
            </a:r>
            <a:r>
              <a:rPr lang="en-US" altLang="en-US"/>
              <a:t> correctly classified as healthy.</a:t>
            </a:r>
            <a:endParaRPr lang="en-US" altLang="en-US"/>
          </a:p>
          <a:p>
            <a:r>
              <a:rPr lang="en-US" altLang="en-US"/>
              <a:t>122 melanoma </a:t>
            </a:r>
            <a:r>
              <a:rPr lang="de-DE" altLang="en-US">
                <a:latin typeface="Calibri" panose="020F0502020204030204" charset="0"/>
              </a:rPr>
              <a:t>images</a:t>
            </a:r>
            <a:r>
              <a:rPr lang="en-US" altLang="en-US"/>
              <a:t> correctly classified as melanoma.</a:t>
            </a:r>
            <a:endParaRPr lang="en-US" altLang="en-US"/>
          </a:p>
          <a:p>
            <a:r>
              <a:rPr lang="en-US" altLang="en-US"/>
              <a:t>Only 1 melanoma</a:t>
            </a:r>
            <a:r>
              <a:rPr lang="de-DE" altLang="en-US">
                <a:latin typeface="Calibri" panose="020F0502020204030204" charset="0"/>
              </a:rPr>
              <a:t> image</a:t>
            </a:r>
            <a:r>
              <a:rPr lang="en-US" altLang="en-US"/>
              <a:t> was misclassified as healthy.</a:t>
            </a:r>
            <a:endParaRPr lang="en-US" altLang="en-US"/>
          </a:p>
          <a:p>
            <a:endParaRPr lang="en-US" altLang="en-US"/>
          </a:p>
          <a:p>
            <a:r>
              <a:rPr lang="en-US" altLang="en-US"/>
              <a:t>Model detects almost all melanomas.</a:t>
            </a:r>
            <a:endParaRPr lang="en-US" altLang="en-US"/>
          </a:p>
          <a:p>
            <a:r>
              <a:rPr lang="en-US" altLang="en-US"/>
              <a:t>It does not confuse healthy nails as melanoma.</a:t>
            </a:r>
            <a:endParaRPr lang="en-US" altLang="en-US"/>
          </a:p>
          <a:p>
            <a:r>
              <a:rPr lang="en-US" altLang="en-US"/>
              <a:t>Training appears stable and well-generalized.</a:t>
            </a:r>
            <a:endParaRPr lang="en-US" altLang="en-US"/>
          </a:p>
          <a:p>
            <a:endParaRPr lang="en-US" altLang="en-US"/>
          </a:p>
          <a:p>
            <a:r>
              <a:rPr lang="de-DE" altLang="en-US">
                <a:latin typeface="Calibri" panose="020F0502020204030204" charset="0"/>
              </a:rPr>
              <a:t>Precision, Recall and F1-Score are high </a:t>
            </a:r>
            <a:endParaRPr lang="de-DE" altLang="en-US">
              <a:latin typeface="Calibri" panose="020F0502020204030204" charset="0"/>
              <a:sym typeface="+mn-ea"/>
            </a:endParaRPr>
          </a:p>
          <a:p>
            <a:r>
              <a:rPr lang="en-US" altLang="en-US">
                <a:sym typeface="+mn-ea"/>
              </a:rPr>
              <a:t> </a:t>
            </a:r>
            <a:endParaRPr lang="en-US" altLang="en-US"/>
          </a:p>
          <a:p>
            <a:endParaRPr lang="en-US"/>
          </a:p>
        </p:txBody>
      </p:sp>
      <p:sp>
        <p:nvSpPr>
          <p:cNvPr id="7" name="Right Brace 6"/>
          <p:cNvSpPr/>
          <p:nvPr>
            <p:custDataLst>
              <p:tags r:id="rId3"/>
            </p:custDataLst>
          </p:nvPr>
        </p:nvSpPr>
        <p:spPr>
          <a:xfrm>
            <a:off x="5737225" y="1782445"/>
            <a:ext cx="358775" cy="738505"/>
          </a:xfrm>
          <a:prstGeom prst="rightBrac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de-DE" altLang="en-US">
              <a:latin typeface="Calibri" panose="020F0502020204030204" charset="0"/>
            </a:endParaRPr>
          </a:p>
        </p:txBody>
      </p:sp>
      <p:sp>
        <p:nvSpPr>
          <p:cNvPr id="8" name="Text Box 7"/>
          <p:cNvSpPr txBox="1"/>
          <p:nvPr/>
        </p:nvSpPr>
        <p:spPr>
          <a:xfrm>
            <a:off x="6252845" y="1915795"/>
            <a:ext cx="1387475" cy="816610"/>
          </a:xfrm>
          <a:prstGeom prst="rect">
            <a:avLst/>
          </a:prstGeom>
          <a:noFill/>
        </p:spPr>
        <p:txBody>
          <a:bodyPr wrap="square" rtlCol="0">
            <a:noAutofit/>
          </a:bodyPr>
          <a:p>
            <a:r>
              <a:rPr lang="de-DE" altLang="en-US" sz="1600">
                <a:latin typeface="Calibri" panose="020F0502020204030204" charset="0"/>
              </a:rPr>
              <a:t>almost perfect classification</a:t>
            </a:r>
            <a:endParaRPr lang="de-DE" altLang="en-US" sz="1600">
              <a:latin typeface="Calibri" panose="020F0502020204030204" charset="0"/>
            </a:endParaRPr>
          </a:p>
        </p:txBody>
      </p:sp>
      <p:sp>
        <p:nvSpPr>
          <p:cNvPr id="9" name="Text Box 8"/>
          <p:cNvSpPr txBox="1"/>
          <p:nvPr/>
        </p:nvSpPr>
        <p:spPr>
          <a:xfrm>
            <a:off x="632460" y="4507865"/>
            <a:ext cx="4584065" cy="1198880"/>
          </a:xfrm>
          <a:prstGeom prst="rect">
            <a:avLst/>
          </a:prstGeom>
          <a:noFill/>
        </p:spPr>
        <p:txBody>
          <a:bodyPr wrap="square" rtlCol="0">
            <a:spAutoFit/>
          </a:bodyPr>
          <a:p>
            <a:r>
              <a:rPr lang="de-DE" altLang="en-US" b="1">
                <a:latin typeface="Calibri" panose="020F0502020204030204" charset="0"/>
                <a:sym typeface="+mn-ea"/>
              </a:rPr>
              <a:t>  Conclusion: </a:t>
            </a:r>
            <a:r>
              <a:rPr lang="de-DE" altLang="en-US">
                <a:latin typeface="Calibri" panose="020F0502020204030204" charset="0"/>
                <a:sym typeface="+mn-ea"/>
              </a:rPr>
              <a:t> model is learning</a:t>
            </a:r>
            <a:endParaRPr lang="de-DE" altLang="en-US">
              <a:latin typeface="Calibri" panose="020F0502020204030204" charset="0"/>
              <a:sym typeface="+mn-ea"/>
            </a:endParaRPr>
          </a:p>
          <a:p>
            <a:r>
              <a:rPr lang="de-DE" altLang="en-US">
                <a:latin typeface="Calibri" panose="020F0502020204030204" charset="0"/>
                <a:sym typeface="+mn-ea"/>
              </a:rPr>
              <a:t>                         performs well</a:t>
            </a:r>
            <a:endParaRPr lang="de-DE" altLang="en-US">
              <a:latin typeface="Calibri" panose="020F0502020204030204" charset="0"/>
              <a:sym typeface="+mn-ea"/>
            </a:endParaRPr>
          </a:p>
          <a:p>
            <a:r>
              <a:rPr lang="de-DE" altLang="en-US">
                <a:latin typeface="Calibri" panose="020F0502020204030204" charset="0"/>
                <a:sym typeface="+mn-ea"/>
              </a:rPr>
              <a:t>                         makes accurate decisions</a:t>
            </a:r>
            <a:endParaRPr lang="de-DE" altLang="en-US">
              <a:latin typeface="Calibri" panose="020F0502020204030204" charset="0"/>
              <a:sym typeface="+mn-ea"/>
            </a:endParaRPr>
          </a:p>
          <a:p>
            <a:endParaRPr lang="de-DE" altLang="en-US">
              <a:latin typeface="Calibri" panose="020F0502020204030204"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sz="3600">
                <a:latin typeface="Calibri" panose="020F0502020204030204" charset="0"/>
              </a:rPr>
              <a:t>ResNet18 (batch size: 32, epochs: 10)</a:t>
            </a:r>
            <a:endParaRPr lang="de-DE" altLang="en-US" sz="3600">
              <a:latin typeface="Calibri" panose="020F0502020204030204" charset="0"/>
            </a:endParaRPr>
          </a:p>
        </p:txBody>
      </p:sp>
      <p:pic>
        <p:nvPicPr>
          <p:cNvPr id="4" name="Content Placeholder 3"/>
          <p:cNvPicPr/>
          <p:nvPr>
            <p:ph idx="1"/>
          </p:nvPr>
        </p:nvPicPr>
        <p:blipFill>
          <a:blip r:embed="rId1"/>
          <a:srcRect l="208" r="208"/>
          <a:stretch>
            <a:fillRect/>
          </a:stretch>
        </p:blipFill>
        <p:spPr>
          <a:xfrm>
            <a:off x="2860675" y="1417320"/>
            <a:ext cx="6405880" cy="2753995"/>
          </a:xfrm>
        </p:spPr>
      </p:pic>
      <p:sp>
        <p:nvSpPr>
          <p:cNvPr id="5" name="Text Box 4"/>
          <p:cNvSpPr txBox="1"/>
          <p:nvPr/>
        </p:nvSpPr>
        <p:spPr>
          <a:xfrm>
            <a:off x="483235" y="4270375"/>
            <a:ext cx="4507865" cy="2030095"/>
          </a:xfrm>
          <a:prstGeom prst="rect">
            <a:avLst/>
          </a:prstGeom>
          <a:noFill/>
        </p:spPr>
        <p:txBody>
          <a:bodyPr wrap="square" rtlCol="0">
            <a:spAutoFit/>
          </a:bodyPr>
          <a:p>
            <a:r>
              <a:rPr lang="de-DE" altLang="en-US" b="1">
                <a:latin typeface="Calibri" panose="020F0502020204030204" charset="0"/>
              </a:rPr>
              <a:t>Loss Curves:</a:t>
            </a:r>
            <a:endParaRPr lang="de-DE" altLang="en-US" b="1">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Training loss starts high and decreases steadily to 0.2.</a:t>
            </a:r>
            <a:endParaRPr lang="en-US" altLang="en-US">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Validation loss starts lower  and drops continuously to 0.13</a:t>
            </a:r>
            <a:endParaRPr lang="en-US" altLang="en-US">
              <a:latin typeface="Calibri" panose="020F0502020204030204" charset="0"/>
            </a:endParaRPr>
          </a:p>
          <a:p>
            <a:pPr marL="742950" lvl="1" indent="-285750">
              <a:buFont typeface="Arial" panose="020B0604020202020204" pitchFamily="34" charset="0"/>
              <a:buChar char="•"/>
            </a:pPr>
            <a:r>
              <a:rPr lang="de-DE" altLang="en-US">
                <a:latin typeface="Calibri" panose="020F0502020204030204" charset="0"/>
              </a:rPr>
              <a:t>These show that model is learning</a:t>
            </a:r>
            <a:endParaRPr lang="de-DE" altLang="en-US">
              <a:latin typeface="Calibri" panose="020F0502020204030204" charset="0"/>
            </a:endParaRPr>
          </a:p>
          <a:p>
            <a:pPr marL="742950" lvl="1" indent="-285750">
              <a:buFont typeface="Arial" panose="020B0604020202020204" pitchFamily="34" charset="0"/>
              <a:buChar char="•"/>
            </a:pPr>
            <a:r>
              <a:rPr lang="de-DE" altLang="en-US">
                <a:latin typeface="Calibri" panose="020F0502020204030204" charset="0"/>
              </a:rPr>
              <a:t>No major overfitting, model is stable</a:t>
            </a:r>
            <a:endParaRPr lang="de-DE" altLang="en-US">
              <a:latin typeface="Calibri" panose="020F0502020204030204" charset="0"/>
            </a:endParaRPr>
          </a:p>
        </p:txBody>
      </p:sp>
      <p:sp>
        <p:nvSpPr>
          <p:cNvPr id="6" name="Text Box 5"/>
          <p:cNvSpPr txBox="1"/>
          <p:nvPr/>
        </p:nvSpPr>
        <p:spPr>
          <a:xfrm>
            <a:off x="6247765" y="4469765"/>
            <a:ext cx="5192395" cy="1476375"/>
          </a:xfrm>
          <a:prstGeom prst="rect">
            <a:avLst/>
          </a:prstGeom>
          <a:noFill/>
        </p:spPr>
        <p:txBody>
          <a:bodyPr wrap="square" rtlCol="0">
            <a:spAutoFit/>
          </a:bodyPr>
          <a:p>
            <a:r>
              <a:rPr lang="de-DE" altLang="en-US" b="1">
                <a:latin typeface="Calibri" panose="020F0502020204030204" charset="0"/>
              </a:rPr>
              <a:t>Accuracy Curves:</a:t>
            </a:r>
            <a:endParaRPr lang="de-DE" altLang="en-US" b="1">
              <a:latin typeface="Calibri" panose="020F0502020204030204" charset="0"/>
            </a:endParaRPr>
          </a:p>
          <a:p>
            <a:pPr marL="285750" indent="-285750">
              <a:buFont typeface="Arial" panose="020B0604020202020204" pitchFamily="34" charset="0"/>
              <a:buChar char="•"/>
            </a:pPr>
            <a:r>
              <a:rPr lang="de-DE" altLang="en-US">
                <a:latin typeface="Calibri" panose="020F0502020204030204" charset="0"/>
              </a:rPr>
              <a:t>Both training and validation accuracy are increasing</a:t>
            </a:r>
            <a:endParaRPr lang="de-DE" altLang="en-US">
              <a:latin typeface="Calibri" panose="020F0502020204030204" charset="0"/>
            </a:endParaRPr>
          </a:p>
          <a:p>
            <a:pPr marL="285750" indent="-285750">
              <a:buFont typeface="Arial" panose="020B0604020202020204" pitchFamily="34" charset="0"/>
              <a:buChar char="•"/>
            </a:pPr>
            <a:r>
              <a:rPr lang="de-DE" altLang="en-US">
                <a:latin typeface="Calibri" panose="020F0502020204030204" charset="0"/>
              </a:rPr>
              <a:t>Model performs well</a:t>
            </a:r>
            <a:endParaRPr lang="de-DE" altLang="en-US">
              <a:latin typeface="Calibri" panose="020F0502020204030204" charset="0"/>
            </a:endParaRPr>
          </a:p>
          <a:p>
            <a:pPr marL="285750" indent="-285750">
              <a:buFont typeface="Arial" panose="020B0604020202020204" pitchFamily="34" charset="0"/>
              <a:buChar char="•"/>
            </a:pPr>
            <a:endParaRPr lang="de-DE" altLang="en-US">
              <a:latin typeface="Calibri" panose="020F05020202040302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781050" y="260350"/>
            <a:ext cx="10515600" cy="1325563"/>
          </a:xfrm>
        </p:spPr>
        <p:txBody>
          <a:bodyPr/>
          <a:p>
            <a:endParaRPr lang="en-US"/>
          </a:p>
        </p:txBody>
      </p:sp>
      <p:pic>
        <p:nvPicPr>
          <p:cNvPr id="6" name="Content Placeholder 5"/>
          <p:cNvPicPr>
            <a:picLocks noChangeAspect="1"/>
          </p:cNvPicPr>
          <p:nvPr>
            <p:ph idx="1"/>
          </p:nvPr>
        </p:nvPicPr>
        <p:blipFill>
          <a:blip r:embed="rId1"/>
          <a:stretch>
            <a:fillRect/>
          </a:stretch>
        </p:blipFill>
        <p:spPr>
          <a:xfrm>
            <a:off x="7318375" y="4751705"/>
            <a:ext cx="4130040" cy="1501140"/>
          </a:xfrm>
          <a:prstGeom prst="rect">
            <a:avLst/>
          </a:prstGeom>
        </p:spPr>
      </p:pic>
      <p:pic>
        <p:nvPicPr>
          <p:cNvPr id="4" name="Picture 3"/>
          <p:cNvPicPr/>
          <p:nvPr/>
        </p:nvPicPr>
        <p:blipFill>
          <a:blip r:embed="rId2"/>
          <a:stretch>
            <a:fillRect/>
          </a:stretch>
        </p:blipFill>
        <p:spPr>
          <a:xfrm>
            <a:off x="7750175" y="902335"/>
            <a:ext cx="3603625" cy="3342640"/>
          </a:xfrm>
          <a:prstGeom prst="rect">
            <a:avLst/>
          </a:prstGeom>
        </p:spPr>
      </p:pic>
      <p:sp>
        <p:nvSpPr>
          <p:cNvPr id="7" name="Text Box 6"/>
          <p:cNvSpPr txBox="1"/>
          <p:nvPr/>
        </p:nvSpPr>
        <p:spPr>
          <a:xfrm>
            <a:off x="711835" y="1369060"/>
            <a:ext cx="6543040" cy="3692525"/>
          </a:xfrm>
          <a:prstGeom prst="rect">
            <a:avLst/>
          </a:prstGeom>
          <a:noFill/>
        </p:spPr>
        <p:txBody>
          <a:bodyPr wrap="square" rtlCol="0">
            <a:spAutoFit/>
          </a:bodyPr>
          <a:p>
            <a:pPr marL="285750" indent="-285750">
              <a:buFont typeface="Arial" panose="020B0604020202020204" pitchFamily="34" charset="0"/>
              <a:buChar char="•"/>
            </a:pPr>
            <a:r>
              <a:rPr lang="en-US" altLang="en-US"/>
              <a:t>Out of 363 healthy </a:t>
            </a:r>
            <a:r>
              <a:rPr lang="de-DE" altLang="en-US">
                <a:latin typeface="Calibri" panose="020F0502020204030204" charset="0"/>
              </a:rPr>
              <a:t>images</a:t>
            </a:r>
            <a:r>
              <a:rPr lang="en-US" altLang="en-US"/>
              <a:t>, the model correctly classified 356 and mislabeled 7 as melanoma (</a:t>
            </a:r>
            <a:r>
              <a:rPr lang="de-DE" altLang="en-US">
                <a:latin typeface="Calibri" panose="020F0502020204030204" charset="0"/>
              </a:rPr>
              <a:t>FP</a:t>
            </a:r>
            <a:r>
              <a:rPr lang="en-US" altLang="en-US"/>
              <a:t>).</a:t>
            </a:r>
            <a:endParaRPr lang="en-US" altLang="en-US"/>
          </a:p>
          <a:p>
            <a:pPr marL="285750" indent="-285750">
              <a:buFont typeface="Arial" panose="020B0604020202020204" pitchFamily="34" charset="0"/>
              <a:buChar char="•"/>
            </a:pPr>
            <a:r>
              <a:rPr lang="en-US" altLang="en-US"/>
              <a:t>Out of 123 melanoma </a:t>
            </a:r>
            <a:r>
              <a:rPr lang="de-DE" altLang="en-US">
                <a:latin typeface="Calibri" panose="020F0502020204030204" charset="0"/>
              </a:rPr>
              <a:t>images</a:t>
            </a:r>
            <a:r>
              <a:rPr lang="en-US" altLang="en-US"/>
              <a:t>, the model correctly detected 111 and missed 12 (</a:t>
            </a:r>
            <a:r>
              <a:rPr lang="de-DE" altLang="en-US">
                <a:latin typeface="Calibri" panose="020F0502020204030204" charset="0"/>
              </a:rPr>
              <a:t>FN</a:t>
            </a:r>
            <a:r>
              <a:rPr lang="en-US" altLang="en-US"/>
              <a:t>).</a:t>
            </a:r>
            <a:endParaRPr lang="en-US" altLang="en-US"/>
          </a:p>
          <a:p>
            <a:r>
              <a:rPr lang="de-DE" altLang="en-US">
                <a:latin typeface="Calibri" panose="020F0502020204030204" charset="0"/>
              </a:rPr>
              <a:t>T</a:t>
            </a:r>
            <a:r>
              <a:rPr lang="en-US" altLang="en-US"/>
              <a:t>he model performs well on both classes and shows no severe bias</a:t>
            </a:r>
            <a:endParaRPr lang="en-US" altLang="en-US"/>
          </a:p>
          <a:p>
            <a:endParaRPr lang="en-US"/>
          </a:p>
          <a:p>
            <a:r>
              <a:rPr lang="en-US" altLang="en-US" b="1"/>
              <a:t>Precision (Melanoma = 0.94):</a:t>
            </a:r>
            <a:r>
              <a:rPr lang="en-US" altLang="en-US"/>
              <a:t> When </a:t>
            </a:r>
            <a:r>
              <a:rPr lang="de-DE" altLang="en-US">
                <a:latin typeface="Calibri" panose="020F0502020204030204" charset="0"/>
              </a:rPr>
              <a:t>the </a:t>
            </a:r>
            <a:r>
              <a:rPr lang="en-US" altLang="en-US"/>
              <a:t>model predicts melanoma, it’s almost always correct</a:t>
            </a:r>
            <a:r>
              <a:rPr lang="de-DE" altLang="en-US">
                <a:latin typeface="Calibri" panose="020F0502020204030204" charset="0"/>
              </a:rPr>
              <a:t>, leading to</a:t>
            </a:r>
            <a:r>
              <a:rPr lang="en-US" altLang="en-US"/>
              <a:t> few false alarms.</a:t>
            </a:r>
            <a:endParaRPr lang="en-US" altLang="en-US" b="1"/>
          </a:p>
          <a:p>
            <a:r>
              <a:rPr lang="en-US" altLang="en-US" b="1"/>
              <a:t>Recall (Melanoma = 0.90):</a:t>
            </a:r>
            <a:r>
              <a:rPr lang="en-US" altLang="en-US"/>
              <a:t> It catche</a:t>
            </a:r>
            <a:r>
              <a:rPr lang="de-DE" altLang="en-US">
                <a:latin typeface="Calibri" panose="020F0502020204030204" charset="0"/>
              </a:rPr>
              <a:t>s</a:t>
            </a:r>
            <a:r>
              <a:rPr lang="en-US" altLang="en-US"/>
              <a:t> 90% of actual melanomas.</a:t>
            </a:r>
            <a:endParaRPr lang="en-US" altLang="en-US"/>
          </a:p>
          <a:p>
            <a:r>
              <a:rPr lang="en-US" altLang="en-US" b="1"/>
              <a:t>F1 (Melanoma = 0.92):</a:t>
            </a:r>
            <a:r>
              <a:rPr lang="en-US" altLang="en-US"/>
              <a:t> Overall performance on melanoma detection is </a:t>
            </a:r>
            <a:r>
              <a:rPr lang="de-DE" altLang="en-US">
                <a:latin typeface="Calibri" panose="020F0502020204030204" charset="0"/>
              </a:rPr>
              <a:t>good </a:t>
            </a:r>
            <a:r>
              <a:rPr lang="en-US" altLang="en-US"/>
              <a:t>and balanced.</a:t>
            </a:r>
            <a:endParaRPr lang="en-US" altLang="en-US"/>
          </a:p>
          <a:p>
            <a:endParaRPr lang="en-US" altLang="en-US"/>
          </a:p>
          <a:p>
            <a:r>
              <a:rPr lang="de-DE" altLang="en-US" b="1">
                <a:latin typeface="Calibri" panose="020F0502020204030204" charset="0"/>
              </a:rPr>
              <a:t>Conclusion: </a:t>
            </a:r>
            <a:r>
              <a:rPr lang="de-DE" altLang="en-US">
                <a:latin typeface="Calibri" panose="020F0502020204030204" charset="0"/>
              </a:rPr>
              <a:t>The model generalizes well and rarely misclassifies</a:t>
            </a:r>
            <a:endParaRPr lang="de-DE" altLang="en-US">
              <a:latin typeface="Calibri" panose="020F05020202040302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rPr>
              <a:t>Swin Transformer (batch size: 32, epochs: 10)</a:t>
            </a:r>
            <a:endParaRPr lang="de-DE" altLang="en-US">
              <a:latin typeface="Calibri" panose="020F0502020204030204" charset="0"/>
            </a:endParaRPr>
          </a:p>
        </p:txBody>
      </p:sp>
      <p:pic>
        <p:nvPicPr>
          <p:cNvPr id="4" name="Content Placeholder 3"/>
          <p:cNvPicPr>
            <a:picLocks noChangeAspect="1"/>
          </p:cNvPicPr>
          <p:nvPr>
            <p:ph idx="1"/>
          </p:nvPr>
        </p:nvPicPr>
        <p:blipFill>
          <a:blip r:embed="rId1"/>
          <a:stretch>
            <a:fillRect/>
          </a:stretch>
        </p:blipFill>
        <p:spPr>
          <a:xfrm>
            <a:off x="6182995" y="1526540"/>
            <a:ext cx="5448300" cy="4160520"/>
          </a:xfrm>
          <a:prstGeom prst="rect">
            <a:avLst/>
          </a:prstGeom>
        </p:spPr>
      </p:pic>
      <p:sp>
        <p:nvSpPr>
          <p:cNvPr id="5" name="Text Box 4"/>
          <p:cNvSpPr txBox="1"/>
          <p:nvPr/>
        </p:nvSpPr>
        <p:spPr>
          <a:xfrm>
            <a:off x="576580" y="1690370"/>
            <a:ext cx="5092700" cy="4162425"/>
          </a:xfrm>
          <a:prstGeom prst="rect">
            <a:avLst/>
          </a:prstGeom>
          <a:noFill/>
        </p:spPr>
        <p:txBody>
          <a:bodyPr wrap="square" rtlCol="0">
            <a:noAutofit/>
          </a:bodyPr>
          <a:p>
            <a:r>
              <a:rPr lang="de-DE" altLang="en-US">
                <a:latin typeface="Calibri" panose="020F0502020204030204" charset="0"/>
              </a:rPr>
              <a:t>Accuracy Curves:</a:t>
            </a:r>
            <a:endParaRPr lang="de-DE" altLang="en-US">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Training accuracy fluctuates heavily</a:t>
            </a:r>
            <a:r>
              <a:rPr lang="de-DE" altLang="en-US">
                <a:latin typeface="Calibri" panose="020F0502020204030204" charset="0"/>
              </a:rPr>
              <a:t> and then drops, </a:t>
            </a:r>
            <a:r>
              <a:rPr lang="en-US" altLang="en-US">
                <a:latin typeface="Calibri" panose="020F0502020204030204" charset="0"/>
              </a:rPr>
              <a:t>means optimization isn’t smooth</a:t>
            </a:r>
            <a:endParaRPr lang="en-US" altLang="en-US">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Validation accuracy being smoother and consistently high s</a:t>
            </a:r>
            <a:r>
              <a:rPr lang="de-DE" altLang="en-US">
                <a:latin typeface="Calibri" panose="020F0502020204030204" charset="0"/>
              </a:rPr>
              <a:t>hows that</a:t>
            </a:r>
            <a:r>
              <a:rPr lang="en-US" altLang="en-US">
                <a:latin typeface="Calibri" panose="020F0502020204030204" charset="0"/>
              </a:rPr>
              <a:t> the model generalizes well, despite unstable training.</a:t>
            </a:r>
            <a:endParaRPr lang="en-US" altLang="en-US">
              <a:latin typeface="Calibri" panose="020F0502020204030204" charset="0"/>
            </a:endParaRPr>
          </a:p>
          <a:p>
            <a:pPr marL="742950" lvl="1" indent="-285750">
              <a:buFont typeface="Arial" panose="020B0604020202020204" pitchFamily="34" charset="0"/>
              <a:buChar char="•"/>
            </a:pPr>
            <a:endParaRPr lang="en-US" altLang="en-US">
              <a:latin typeface="Calibri" panose="020F0502020204030204" charset="0"/>
            </a:endParaRPr>
          </a:p>
          <a:p>
            <a:pPr lvl="0" indent="0">
              <a:buNone/>
            </a:pPr>
            <a:r>
              <a:rPr lang="de-DE" altLang="en-US">
                <a:latin typeface="Calibri" panose="020F0502020204030204" charset="0"/>
              </a:rPr>
              <a:t>Loss Curves:</a:t>
            </a:r>
            <a:endParaRPr lang="de-DE" altLang="en-US">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Training loss drops strongly, then </a:t>
            </a:r>
            <a:r>
              <a:rPr lang="de-DE" altLang="en-US">
                <a:latin typeface="Calibri" panose="020F0502020204030204" charset="0"/>
              </a:rPr>
              <a:t>increases </a:t>
            </a:r>
            <a:r>
              <a:rPr lang="en-US" altLang="en-US">
                <a:latin typeface="Calibri" panose="020F0502020204030204" charset="0"/>
              </a:rPr>
              <a:t>again later</a:t>
            </a:r>
            <a:endParaRPr lang="en-US" altLang="en-US">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Validation loss decreases but </a:t>
            </a:r>
            <a:r>
              <a:rPr lang="de-DE" altLang="en-US">
                <a:latin typeface="Calibri" panose="020F0502020204030204" charset="0"/>
              </a:rPr>
              <a:t>then </a:t>
            </a:r>
            <a:r>
              <a:rPr lang="en-US" altLang="en-US">
                <a:latin typeface="Calibri" panose="020F0502020204030204" charset="0"/>
              </a:rPr>
              <a:t>fluctuates in the middle</a:t>
            </a:r>
            <a:endParaRPr lang="en-US" altLang="en-US">
              <a:latin typeface="Calibri" panose="020F0502020204030204" charset="0"/>
            </a:endParaRPr>
          </a:p>
          <a:p>
            <a:pPr marL="742950" lvl="1" indent="-285750">
              <a:buFont typeface="Arial" panose="020B0604020202020204" pitchFamily="34" charset="0"/>
              <a:buChar char="•"/>
            </a:pPr>
            <a:endParaRPr lang="en-US" altLang="en-US">
              <a:latin typeface="Calibri" panose="020F0502020204030204" charset="0"/>
            </a:endParaRPr>
          </a:p>
          <a:p>
            <a:pPr lvl="1" indent="0">
              <a:buFont typeface="Arial" panose="020B0604020202020204" pitchFamily="34" charset="0"/>
              <a:buNone/>
            </a:pPr>
            <a:r>
              <a:rPr lang="en-US" altLang="en-US">
                <a:sym typeface="+mn-ea"/>
              </a:rPr>
              <a:t>→</a:t>
            </a:r>
            <a:r>
              <a:rPr lang="de-DE" altLang="en-US">
                <a:latin typeface="Calibri" panose="020F0502020204030204" charset="0"/>
                <a:sym typeface="+mn-ea"/>
              </a:rPr>
              <a:t> unstable optimization</a:t>
            </a:r>
            <a:endParaRPr lang="en-US" altLang="en-US">
              <a:latin typeface="Calibri" panose="020F0502020204030204" charset="0"/>
            </a:endParaRPr>
          </a:p>
          <a:p>
            <a:pPr marL="742950" lvl="1" indent="-285750">
              <a:buFont typeface="Arial" panose="020B0604020202020204" pitchFamily="34" charset="0"/>
              <a:buChar char="•"/>
            </a:pPr>
            <a:endParaRPr lang="en-US" altLang="en-US">
              <a:latin typeface="Calibri" panose="020F0502020204030204" charset="0"/>
            </a:endParaRPr>
          </a:p>
          <a:p>
            <a:pPr marL="742950" lvl="1" indent="-285750">
              <a:buFont typeface="Arial" panose="020B0604020202020204" pitchFamily="34" charset="0"/>
              <a:buChar char="•"/>
            </a:pPr>
            <a:endParaRPr lang="en-US" altLang="en-US">
              <a:latin typeface="Calibri" panose="020F0502020204030204" charset="0"/>
            </a:endParaRPr>
          </a:p>
          <a:p>
            <a:pPr marL="742950" lvl="1" indent="-285750">
              <a:buFont typeface="Arial" panose="020B0604020202020204" pitchFamily="34" charset="0"/>
              <a:buChar char="•"/>
            </a:pPr>
            <a:endParaRPr lang="en-US" altLang="en-US">
              <a:latin typeface="Calibri" panose="020F0502020204030204" charset="0"/>
            </a:endParaRPr>
          </a:p>
          <a:p>
            <a:pPr marL="742950" lvl="1" indent="-285750">
              <a:buFont typeface="Arial" panose="020B0604020202020204" pitchFamily="34" charset="0"/>
              <a:buChar char="•"/>
            </a:pPr>
            <a:endParaRPr lang="de-DE" altLang="en-US">
              <a:latin typeface="Calibri" panose="020F05020202040302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838200" y="1825625"/>
            <a:ext cx="5867400" cy="4351655"/>
          </a:xfrm>
        </p:spPr>
        <p:txBody>
          <a:bodyPr>
            <a:normAutofit lnSpcReduction="10000"/>
          </a:bodyPr>
          <a:p>
            <a:pPr marL="0" indent="0">
              <a:buNone/>
            </a:pPr>
            <a:r>
              <a:rPr lang="en-US" altLang="en-US" sz="2000"/>
              <a:t>The model correctly identifies all Healthy cases.</a:t>
            </a:r>
            <a:endParaRPr lang="en-US" altLang="en-US" sz="2000"/>
          </a:p>
          <a:p>
            <a:pPr marL="0" indent="0">
              <a:buNone/>
            </a:pPr>
            <a:r>
              <a:rPr lang="en-US" altLang="en-US" sz="2000"/>
              <a:t>But for Melanoma:</a:t>
            </a:r>
            <a:endParaRPr lang="en-US" altLang="en-US" sz="2000"/>
          </a:p>
          <a:p>
            <a:pPr lvl="1"/>
            <a:r>
              <a:rPr lang="en-US" altLang="en-US" sz="1800"/>
              <a:t>Only 38 out of 123 are correctly detected </a:t>
            </a:r>
            <a:endParaRPr lang="en-US" altLang="en-US" sz="1800"/>
          </a:p>
          <a:p>
            <a:pPr lvl="1"/>
            <a:r>
              <a:rPr lang="en-US" altLang="en-US" sz="1800"/>
              <a:t>85 melanomas were misclassified as healthy → </a:t>
            </a:r>
            <a:r>
              <a:rPr lang="de-DE" altLang="en-US" sz="1800">
                <a:latin typeface="Calibri" panose="020F0502020204030204" charset="0"/>
              </a:rPr>
              <a:t>FN</a:t>
            </a:r>
            <a:endParaRPr lang="de-DE" altLang="en-US" sz="1800">
              <a:latin typeface="Calibri" panose="020F0502020204030204" charset="0"/>
            </a:endParaRPr>
          </a:p>
          <a:p>
            <a:pPr lvl="1"/>
            <a:endParaRPr lang="de-DE" altLang="en-US" sz="1800">
              <a:latin typeface="Calibri" panose="020F0502020204030204" charset="0"/>
            </a:endParaRPr>
          </a:p>
          <a:p>
            <a:pPr marL="0" lvl="0" indent="0">
              <a:buNone/>
            </a:pPr>
            <a:r>
              <a:rPr lang="de-DE" altLang="en-US" sz="2100" b="1">
                <a:latin typeface="Calibri" panose="020F0502020204030204" charset="0"/>
              </a:rPr>
              <a:t>Conclusion:</a:t>
            </a:r>
            <a:r>
              <a:rPr lang="de-DE" altLang="en-US" sz="2100">
                <a:latin typeface="Calibri" panose="020F0502020204030204" charset="0"/>
              </a:rPr>
              <a:t> </a:t>
            </a:r>
            <a:r>
              <a:rPr lang="en-US" altLang="en-US" sz="2100">
                <a:latin typeface="Calibri" panose="020F0502020204030204" charset="0"/>
              </a:rPr>
              <a:t>Th</a:t>
            </a:r>
            <a:r>
              <a:rPr lang="de-DE" altLang="en-US" sz="2100">
                <a:latin typeface="Calibri" panose="020F0502020204030204" charset="0"/>
              </a:rPr>
              <a:t>e model is</a:t>
            </a:r>
            <a:r>
              <a:rPr lang="en-US" altLang="en-US" sz="2100">
                <a:latin typeface="Calibri" panose="020F0502020204030204" charset="0"/>
              </a:rPr>
              <a:t> partially successful but unbalanced:</a:t>
            </a:r>
            <a:endParaRPr lang="en-US" altLang="en-US" sz="2100">
              <a:latin typeface="Calibri" panose="020F0502020204030204" charset="0"/>
            </a:endParaRPr>
          </a:p>
          <a:p>
            <a:pPr lvl="1"/>
            <a:r>
              <a:rPr lang="en-US" altLang="en-US" sz="1800">
                <a:latin typeface="Calibri" panose="020F0502020204030204" charset="0"/>
              </a:rPr>
              <a:t>It has learned to detect Healthy nails, but</a:t>
            </a:r>
            <a:r>
              <a:rPr lang="de-DE" altLang="en-US" sz="1800">
                <a:latin typeface="Calibri" panose="020F0502020204030204" charset="0"/>
              </a:rPr>
              <a:t> i</a:t>
            </a:r>
            <a:r>
              <a:rPr lang="en-US" altLang="en-US" sz="1800">
                <a:latin typeface="Calibri" panose="020F0502020204030204" charset="0"/>
              </a:rPr>
              <a:t>t still misses most Melanoma cases, which </a:t>
            </a:r>
            <a:r>
              <a:rPr lang="de-DE" altLang="en-US" sz="1800">
                <a:latin typeface="Calibri" panose="020F0502020204030204" charset="0"/>
              </a:rPr>
              <a:t>are</a:t>
            </a:r>
            <a:r>
              <a:rPr lang="en-US" altLang="en-US" sz="1800">
                <a:latin typeface="Calibri" panose="020F0502020204030204" charset="0"/>
              </a:rPr>
              <a:t> clinically</a:t>
            </a:r>
            <a:r>
              <a:rPr lang="de-DE" altLang="en-US" sz="1800">
                <a:latin typeface="Calibri" panose="020F0502020204030204" charset="0"/>
              </a:rPr>
              <a:t> critical</a:t>
            </a:r>
            <a:r>
              <a:rPr lang="en-US" altLang="en-US" sz="1800">
                <a:latin typeface="Calibri" panose="020F0502020204030204" charset="0"/>
              </a:rPr>
              <a:t>.</a:t>
            </a:r>
            <a:endParaRPr lang="en-US" altLang="en-US" sz="1800">
              <a:latin typeface="Calibri" panose="020F0502020204030204" charset="0"/>
            </a:endParaRPr>
          </a:p>
        </p:txBody>
      </p:sp>
      <p:pic>
        <p:nvPicPr>
          <p:cNvPr id="4" name="Picture 3"/>
          <p:cNvPicPr/>
          <p:nvPr/>
        </p:nvPicPr>
        <p:blipFill>
          <a:blip r:embed="rId1"/>
          <a:stretch>
            <a:fillRect/>
          </a:stretch>
        </p:blipFill>
        <p:spPr>
          <a:xfrm>
            <a:off x="7454900" y="873125"/>
            <a:ext cx="3985260" cy="3105785"/>
          </a:xfrm>
          <a:prstGeom prst="rect">
            <a:avLst/>
          </a:prstGeom>
        </p:spPr>
      </p:pic>
      <p:pic>
        <p:nvPicPr>
          <p:cNvPr id="6" name="Content Placeholder 5"/>
          <p:cNvPicPr>
            <a:picLocks noChangeAspect="1"/>
          </p:cNvPicPr>
          <p:nvPr/>
        </p:nvPicPr>
        <p:blipFill>
          <a:blip r:embed="rId2"/>
          <a:stretch>
            <a:fillRect/>
          </a:stretch>
        </p:blipFill>
        <p:spPr>
          <a:xfrm>
            <a:off x="7454900" y="4358640"/>
            <a:ext cx="4312920" cy="14173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rPr>
              <a:t>Vgg19 (batch size: 32, epochs: 10)</a:t>
            </a:r>
            <a:endParaRPr lang="de-DE" altLang="en-US">
              <a:latin typeface="Calibri" panose="020F0502020204030204" charset="0"/>
            </a:endParaRPr>
          </a:p>
        </p:txBody>
      </p:sp>
      <p:sp>
        <p:nvSpPr>
          <p:cNvPr id="3" name="Content Placeholder 2"/>
          <p:cNvSpPr>
            <a:spLocks noGrp="1"/>
          </p:cNvSpPr>
          <p:nvPr>
            <p:ph idx="1"/>
          </p:nvPr>
        </p:nvSpPr>
        <p:spPr>
          <a:xfrm>
            <a:off x="6202045" y="1825625"/>
            <a:ext cx="5659755" cy="4351655"/>
          </a:xfrm>
        </p:spPr>
        <p:txBody>
          <a:bodyPr/>
          <a:p>
            <a:pPr marL="0" indent="0">
              <a:buNone/>
            </a:pPr>
            <a:r>
              <a:rPr lang="de-DE" altLang="en-US" sz="1800">
                <a:latin typeface="Calibri" panose="020F0502020204030204" charset="0"/>
              </a:rPr>
              <a:t>Accuracy Curves:</a:t>
            </a:r>
            <a:endParaRPr lang="de-DE" altLang="en-US" sz="1800">
              <a:latin typeface="Calibri" panose="020F0502020204030204" charset="0"/>
            </a:endParaRPr>
          </a:p>
          <a:p>
            <a:pPr lvl="1"/>
            <a:r>
              <a:rPr lang="de-DE" altLang="en-US" sz="1800">
                <a:latin typeface="Calibri" panose="020F0502020204030204" charset="0"/>
              </a:rPr>
              <a:t>training accuracy is completely flat around 0.78, it is not learning through the epochs.</a:t>
            </a:r>
            <a:endParaRPr lang="de-DE" altLang="en-US" sz="1800">
              <a:latin typeface="Calibri" panose="020F0502020204030204" charset="0"/>
            </a:endParaRPr>
          </a:p>
          <a:p>
            <a:pPr lvl="1"/>
            <a:r>
              <a:rPr lang="de-DE" altLang="en-US" sz="1800">
                <a:latin typeface="Calibri" panose="020F0502020204030204" charset="0"/>
              </a:rPr>
              <a:t>validation accuracy is also flat, showing zero improvement.</a:t>
            </a:r>
            <a:endParaRPr lang="de-DE" altLang="en-US" sz="1800">
              <a:latin typeface="Calibri" panose="020F0502020204030204" charset="0"/>
            </a:endParaRPr>
          </a:p>
          <a:p>
            <a:pPr lvl="1"/>
            <a:endParaRPr lang="de-DE" altLang="en-US" sz="1800">
              <a:latin typeface="Calibri" panose="020F0502020204030204" charset="0"/>
            </a:endParaRPr>
          </a:p>
          <a:p>
            <a:pPr marL="0" lvl="0" indent="0">
              <a:buNone/>
            </a:pPr>
            <a:r>
              <a:rPr lang="de-DE" altLang="en-US" sz="1800">
                <a:latin typeface="Calibri" panose="020F0502020204030204" charset="0"/>
              </a:rPr>
              <a:t>Loss Curves:</a:t>
            </a:r>
            <a:endParaRPr lang="de-DE" altLang="en-US" sz="1800">
              <a:latin typeface="Calibri" panose="020F0502020204030204" charset="0"/>
            </a:endParaRPr>
          </a:p>
          <a:p>
            <a:pPr lvl="1"/>
            <a:r>
              <a:rPr lang="de-DE" altLang="en-US" sz="1800">
                <a:latin typeface="Calibri" panose="020F0502020204030204" charset="0"/>
              </a:rPr>
              <a:t>training loss shows small fluctuations, it is almost constant </a:t>
            </a:r>
            <a:r>
              <a:rPr lang="en-US" altLang="en-US" sz="1800">
                <a:sym typeface="+mn-ea"/>
              </a:rPr>
              <a:t> →</a:t>
            </a:r>
            <a:r>
              <a:rPr lang="de-DE" altLang="en-US" sz="1800">
                <a:latin typeface="Calibri" panose="020F0502020204030204" charset="0"/>
                <a:sym typeface="+mn-ea"/>
              </a:rPr>
              <a:t> no real improvement</a:t>
            </a:r>
            <a:endParaRPr lang="de-DE" altLang="en-US" sz="1800">
              <a:latin typeface="Calibri" panose="020F0502020204030204" charset="0"/>
              <a:sym typeface="+mn-ea"/>
            </a:endParaRPr>
          </a:p>
          <a:p>
            <a:pPr lvl="1"/>
            <a:r>
              <a:rPr lang="de-DE" altLang="en-US" sz="1800">
                <a:latin typeface="Calibri" panose="020F0502020204030204" charset="0"/>
                <a:sym typeface="+mn-ea"/>
              </a:rPr>
              <a:t>validation loss stays high </a:t>
            </a:r>
            <a:r>
              <a:rPr lang="en-US" altLang="en-US" sz="1800">
                <a:sym typeface="+mn-ea"/>
              </a:rPr>
              <a:t> </a:t>
            </a:r>
            <a:endParaRPr lang="de-DE" altLang="en-US" sz="1800">
              <a:latin typeface="Calibri" panose="020F0502020204030204" charset="0"/>
              <a:sym typeface="+mn-ea"/>
            </a:endParaRPr>
          </a:p>
          <a:p>
            <a:pPr lvl="1"/>
            <a:endParaRPr lang="de-DE" altLang="en-US" sz="1800">
              <a:latin typeface="Calibri" panose="020F0502020204030204" charset="0"/>
            </a:endParaRPr>
          </a:p>
          <a:p>
            <a:pPr lvl="1"/>
            <a:endParaRPr lang="de-DE" altLang="en-US">
              <a:latin typeface="Calibri" panose="020F0502020204030204" charset="0"/>
            </a:endParaRPr>
          </a:p>
          <a:p>
            <a:pPr marL="457200" lvl="1" indent="0">
              <a:buNone/>
            </a:pPr>
            <a:endParaRPr lang="de-DE" altLang="en-US">
              <a:latin typeface="Calibri" panose="020F0502020204030204" charset="0"/>
            </a:endParaRPr>
          </a:p>
          <a:p>
            <a:pPr lvl="1"/>
            <a:endParaRPr lang="de-DE" altLang="en-US">
              <a:latin typeface="Calibri" panose="020F0502020204030204" charset="0"/>
            </a:endParaRPr>
          </a:p>
        </p:txBody>
      </p:sp>
      <p:pic>
        <p:nvPicPr>
          <p:cNvPr id="7" name="Picture 6"/>
          <p:cNvPicPr/>
          <p:nvPr/>
        </p:nvPicPr>
        <p:blipFill>
          <a:blip r:embed="rId1"/>
          <a:stretch>
            <a:fillRect/>
          </a:stretch>
        </p:blipFill>
        <p:spPr>
          <a:xfrm>
            <a:off x="538226" y="1691005"/>
            <a:ext cx="5367528" cy="41605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pic>
        <p:nvPicPr>
          <p:cNvPr id="7" name="Picture 6"/>
          <p:cNvPicPr/>
          <p:nvPr/>
        </p:nvPicPr>
        <p:blipFill>
          <a:blip r:embed="rId1"/>
          <a:stretch>
            <a:fillRect/>
          </a:stretch>
        </p:blipFill>
        <p:spPr>
          <a:xfrm>
            <a:off x="838200" y="530860"/>
            <a:ext cx="4411345" cy="3632200"/>
          </a:xfrm>
          <a:prstGeom prst="rect">
            <a:avLst/>
          </a:prstGeom>
        </p:spPr>
      </p:pic>
      <p:pic>
        <p:nvPicPr>
          <p:cNvPr id="9" name="Picture 8"/>
          <p:cNvPicPr>
            <a:picLocks noChangeAspect="1"/>
          </p:cNvPicPr>
          <p:nvPr/>
        </p:nvPicPr>
        <p:blipFill>
          <a:blip r:embed="rId2"/>
          <a:stretch>
            <a:fillRect/>
          </a:stretch>
        </p:blipFill>
        <p:spPr>
          <a:xfrm>
            <a:off x="970915" y="4517390"/>
            <a:ext cx="4145280" cy="1455420"/>
          </a:xfrm>
          <a:prstGeom prst="rect">
            <a:avLst/>
          </a:prstGeom>
        </p:spPr>
      </p:pic>
      <p:sp>
        <p:nvSpPr>
          <p:cNvPr id="11" name="Content Placeholder 10"/>
          <p:cNvSpPr/>
          <p:nvPr>
            <p:ph idx="1"/>
          </p:nvPr>
        </p:nvSpPr>
        <p:spPr>
          <a:xfrm>
            <a:off x="6095365" y="1825625"/>
            <a:ext cx="5258435" cy="4351655"/>
          </a:xfrm>
        </p:spPr>
        <p:txBody>
          <a:bodyPr/>
          <a:p>
            <a:pPr marL="0" indent="0">
              <a:buNone/>
            </a:pPr>
            <a:r>
              <a:rPr lang="en-US" altLang="en-US" sz="2000"/>
              <a:t>All </a:t>
            </a:r>
            <a:r>
              <a:rPr lang="de-DE" altLang="en-US" sz="2000">
                <a:latin typeface="Calibri" panose="020F0502020204030204" charset="0"/>
              </a:rPr>
              <a:t>images</a:t>
            </a:r>
            <a:r>
              <a:rPr lang="en-US" altLang="en-US" sz="2000"/>
              <a:t>, regardless of whether they were healthy or melanoma, were predicted as </a:t>
            </a:r>
            <a:r>
              <a:rPr lang="de-DE" altLang="en-US" sz="2000">
                <a:latin typeface="Calibri" panose="020F0502020204030204" charset="0"/>
              </a:rPr>
              <a:t>h</a:t>
            </a:r>
            <a:r>
              <a:rPr lang="en-US" altLang="en-US" sz="2000"/>
              <a:t>ealthy.</a:t>
            </a:r>
            <a:endParaRPr lang="en-US" altLang="en-US" sz="2000"/>
          </a:p>
          <a:p>
            <a:pPr lvl="1"/>
            <a:r>
              <a:rPr lang="en-US" altLang="en-US" sz="2000"/>
              <a:t>So the model completely failed to detect the Melanoma class.</a:t>
            </a:r>
            <a:endParaRPr lang="en-US" altLang="en-US" sz="2000"/>
          </a:p>
          <a:p>
            <a:pPr marL="0" indent="0">
              <a:buNone/>
            </a:pPr>
            <a:r>
              <a:rPr lang="en-US" altLang="en-US" sz="2000"/>
              <a:t>The model memorized the majority class.</a:t>
            </a:r>
            <a:endParaRPr lang="en-US" altLang="en-US" sz="2000"/>
          </a:p>
          <a:p>
            <a:pPr lvl="1"/>
            <a:endParaRPr lang="en-US" altLang="en-US" sz="2000"/>
          </a:p>
          <a:p>
            <a:pPr marL="0" lvl="0" indent="0">
              <a:buNone/>
            </a:pPr>
            <a:r>
              <a:rPr lang="de-DE" altLang="en-US" sz="2330" b="1">
                <a:latin typeface="Calibri" panose="020F0502020204030204" charset="0"/>
              </a:rPr>
              <a:t>Conclusion:</a:t>
            </a:r>
            <a:r>
              <a:rPr lang="en-US" altLang="en-US" sz="2330" b="1"/>
              <a:t> </a:t>
            </a:r>
            <a:r>
              <a:rPr lang="de-DE" altLang="en-US" sz="2330">
                <a:latin typeface="Calibri" panose="020F0502020204030204" charset="0"/>
              </a:rPr>
              <a:t>the model doesn‘t make meaningful decisions</a:t>
            </a:r>
            <a:r>
              <a:rPr lang="en-US" altLang="en-US" sz="2330"/>
              <a:t> for melanoma detection</a:t>
            </a:r>
            <a:endParaRPr lang="en-US" altLang="en-US" sz="233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rPr>
              <a:t>YOLO (batch size: 32, epochs: 10)</a:t>
            </a:r>
            <a:endParaRPr lang="de-DE" altLang="en-US">
              <a:latin typeface="Calibri" panose="020F0502020204030204" charset="0"/>
            </a:endParaRPr>
          </a:p>
        </p:txBody>
      </p:sp>
      <p:sp>
        <p:nvSpPr>
          <p:cNvPr id="3" name="Content Placeholder 2"/>
          <p:cNvSpPr>
            <a:spLocks noGrp="1"/>
          </p:cNvSpPr>
          <p:nvPr>
            <p:ph idx="1"/>
          </p:nvPr>
        </p:nvSpPr>
        <p:spPr>
          <a:xfrm>
            <a:off x="838200" y="1825625"/>
            <a:ext cx="4954905" cy="4351655"/>
          </a:xfrm>
        </p:spPr>
        <p:txBody>
          <a:bodyPr/>
          <a:p>
            <a:pPr marL="0" indent="0">
              <a:buNone/>
            </a:pPr>
            <a:r>
              <a:rPr lang="de-DE" altLang="en-US" sz="2000">
                <a:latin typeface="Calibri" panose="020F0502020204030204" charset="0"/>
              </a:rPr>
              <a:t>Accuracy Curves:</a:t>
            </a:r>
            <a:endParaRPr lang="de-DE" altLang="en-US" sz="2000">
              <a:latin typeface="Calibri" panose="020F0502020204030204" charset="0"/>
            </a:endParaRPr>
          </a:p>
          <a:p>
            <a:pPr lvl="1"/>
            <a:r>
              <a:rPr lang="de-DE" altLang="en-US" sz="2000">
                <a:latin typeface="Calibri" panose="020F0502020204030204" charset="0"/>
              </a:rPr>
              <a:t>Both training and validation accuracy are increasing </a:t>
            </a:r>
            <a:r>
              <a:rPr lang="en-US" altLang="en-US" sz="2000">
                <a:sym typeface="+mn-ea"/>
              </a:rPr>
              <a:t>→</a:t>
            </a:r>
            <a:r>
              <a:rPr lang="de-DE" altLang="en-US" sz="2000">
                <a:latin typeface="Calibri" panose="020F0502020204030204" charset="0"/>
                <a:sym typeface="+mn-ea"/>
              </a:rPr>
              <a:t> the model is learning</a:t>
            </a:r>
            <a:endParaRPr lang="de-DE" altLang="en-US" sz="2000">
              <a:latin typeface="Calibri" panose="020F0502020204030204" charset="0"/>
            </a:endParaRPr>
          </a:p>
          <a:p>
            <a:pPr lvl="1"/>
            <a:r>
              <a:rPr lang="de-DE" altLang="en-US" sz="2000">
                <a:latin typeface="Calibri" panose="020F0502020204030204" charset="0"/>
              </a:rPr>
              <a:t>The curves overlap </a:t>
            </a:r>
            <a:r>
              <a:rPr lang="en-US" altLang="en-US" sz="2000">
                <a:sym typeface="+mn-ea"/>
              </a:rPr>
              <a:t>→</a:t>
            </a:r>
            <a:r>
              <a:rPr lang="de-DE" altLang="en-US" sz="2000">
                <a:latin typeface="Calibri" panose="020F0502020204030204" charset="0"/>
                <a:sym typeface="+mn-ea"/>
              </a:rPr>
              <a:t> no sign of overfitting</a:t>
            </a:r>
            <a:endParaRPr lang="de-DE" altLang="en-US" sz="2000">
              <a:latin typeface="Calibri" panose="020F0502020204030204" charset="0"/>
              <a:sym typeface="+mn-ea"/>
            </a:endParaRPr>
          </a:p>
          <a:p>
            <a:pPr lvl="1"/>
            <a:endParaRPr lang="de-DE" altLang="en-US" sz="2000">
              <a:latin typeface="Calibri" panose="020F0502020204030204" charset="0"/>
              <a:sym typeface="+mn-ea"/>
            </a:endParaRPr>
          </a:p>
          <a:p>
            <a:pPr marL="0" lvl="0" indent="0">
              <a:buNone/>
            </a:pPr>
            <a:r>
              <a:rPr lang="de-DE" altLang="en-US" sz="2000">
                <a:latin typeface="Calibri" panose="020F0502020204030204" charset="0"/>
                <a:sym typeface="+mn-ea"/>
              </a:rPr>
              <a:t>Loss Curves:</a:t>
            </a:r>
            <a:endParaRPr lang="de-DE" altLang="en-US" sz="2000">
              <a:latin typeface="Calibri" panose="020F0502020204030204" charset="0"/>
              <a:sym typeface="+mn-ea"/>
            </a:endParaRPr>
          </a:p>
          <a:p>
            <a:pPr lvl="0"/>
            <a:r>
              <a:rPr lang="en-US" altLang="en-US" sz="2000">
                <a:latin typeface="Calibri" panose="020F0502020204030204" charset="0"/>
                <a:sym typeface="+mn-ea"/>
              </a:rPr>
              <a:t>Both training and validation losses drop sharply in the first few epochs, then continue to decrease gradually.</a:t>
            </a:r>
            <a:endParaRPr lang="en-US" altLang="en-US" sz="2000">
              <a:latin typeface="Calibri" panose="020F0502020204030204" charset="0"/>
              <a:sym typeface="+mn-ea"/>
            </a:endParaRPr>
          </a:p>
          <a:p>
            <a:pPr lvl="0"/>
            <a:r>
              <a:rPr lang="de-DE" altLang="en-US" sz="2000">
                <a:latin typeface="Calibri" panose="020F0502020204030204" charset="0"/>
                <a:sym typeface="+mn-ea"/>
              </a:rPr>
              <a:t>The model is confident and consistent in its predictions</a:t>
            </a:r>
            <a:endParaRPr lang="de-DE" altLang="en-US" sz="2000">
              <a:latin typeface="Calibri" panose="020F0502020204030204" charset="0"/>
              <a:sym typeface="+mn-ea"/>
            </a:endParaRPr>
          </a:p>
        </p:txBody>
      </p:sp>
      <p:pic>
        <p:nvPicPr>
          <p:cNvPr id="4" name="Picture 3"/>
          <p:cNvPicPr/>
          <p:nvPr/>
        </p:nvPicPr>
        <p:blipFill>
          <a:blip r:embed="rId1"/>
          <a:stretch>
            <a:fillRect/>
          </a:stretch>
        </p:blipFill>
        <p:spPr>
          <a:xfrm>
            <a:off x="6095365" y="1929130"/>
            <a:ext cx="5507990" cy="35483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pic>
        <p:nvPicPr>
          <p:cNvPr id="6" name="Content Placeholder 5"/>
          <p:cNvPicPr>
            <a:picLocks noChangeAspect="1"/>
          </p:cNvPicPr>
          <p:nvPr>
            <p:ph idx="1"/>
          </p:nvPr>
        </p:nvPicPr>
        <p:blipFill>
          <a:blip r:embed="rId1"/>
          <a:stretch>
            <a:fillRect/>
          </a:stretch>
        </p:blipFill>
        <p:spPr>
          <a:xfrm>
            <a:off x="6207760" y="4566285"/>
            <a:ext cx="4175760" cy="1402080"/>
          </a:xfrm>
          <a:prstGeom prst="rect">
            <a:avLst/>
          </a:prstGeom>
        </p:spPr>
      </p:pic>
      <p:pic>
        <p:nvPicPr>
          <p:cNvPr id="4" name="Picture 3"/>
          <p:cNvPicPr/>
          <p:nvPr/>
        </p:nvPicPr>
        <p:blipFill>
          <a:blip r:embed="rId2"/>
          <a:stretch>
            <a:fillRect/>
          </a:stretch>
        </p:blipFill>
        <p:spPr>
          <a:xfrm>
            <a:off x="6365240" y="653415"/>
            <a:ext cx="3860800" cy="3423920"/>
          </a:xfrm>
          <a:prstGeom prst="rect">
            <a:avLst/>
          </a:prstGeom>
        </p:spPr>
      </p:pic>
      <p:sp>
        <p:nvSpPr>
          <p:cNvPr id="7" name="Text Box 6"/>
          <p:cNvSpPr txBox="1"/>
          <p:nvPr/>
        </p:nvSpPr>
        <p:spPr>
          <a:xfrm>
            <a:off x="876935" y="1078230"/>
            <a:ext cx="4481195" cy="5354320"/>
          </a:xfrm>
          <a:prstGeom prst="rect">
            <a:avLst/>
          </a:prstGeom>
          <a:noFill/>
        </p:spPr>
        <p:txBody>
          <a:bodyPr wrap="square" rtlCol="0">
            <a:spAutoFit/>
          </a:bodyPr>
          <a:p>
            <a:pPr marL="285750" indent="-285750">
              <a:buFont typeface="Arial" panose="020B0604020202020204" pitchFamily="34" charset="0"/>
              <a:buChar char="•"/>
            </a:pPr>
            <a:r>
              <a:rPr lang="en-US" altLang="en-US"/>
              <a:t>Out of 363 healthy images, the model predicted all 363 correctly</a:t>
            </a:r>
            <a:r>
              <a:rPr lang="de-DE" altLang="en-US">
                <a:latin typeface="Calibri" panose="020F0502020204030204" charset="0"/>
              </a:rPr>
              <a:t>,</a:t>
            </a:r>
            <a:r>
              <a:rPr lang="en-US" altLang="en-US"/>
              <a:t> zero </a:t>
            </a:r>
            <a:r>
              <a:rPr lang="de-DE" altLang="en-US">
                <a:latin typeface="Calibri" panose="020F0502020204030204" charset="0"/>
              </a:rPr>
              <a:t>FP</a:t>
            </a:r>
            <a:r>
              <a:rPr lang="en-US" altLang="en-US"/>
              <a:t>.</a:t>
            </a:r>
            <a:endParaRPr lang="en-US" altLang="en-US"/>
          </a:p>
          <a:p>
            <a:endParaRPr lang="en-US" altLang="en-US"/>
          </a:p>
          <a:p>
            <a:pPr marL="285750" indent="-285750">
              <a:buFont typeface="Arial" panose="020B0604020202020204" pitchFamily="34" charset="0"/>
              <a:buChar char="•"/>
            </a:pPr>
            <a:r>
              <a:rPr lang="en-US" altLang="en-US"/>
              <a:t>Out of 123 melanoma images, 122 were correctly identified and 1 was missed (</a:t>
            </a:r>
            <a:r>
              <a:rPr lang="de-DE" altLang="en-US">
                <a:latin typeface="Calibri" panose="020F0502020204030204" charset="0"/>
              </a:rPr>
              <a:t>FN</a:t>
            </a:r>
            <a:r>
              <a:rPr lang="en-US" altLang="en-US"/>
              <a:t>).</a:t>
            </a:r>
            <a:endParaRPr lang="en-US" altLang="en-US"/>
          </a:p>
          <a:p>
            <a:endParaRPr lang="en-US" altLang="en-US"/>
          </a:p>
          <a:p>
            <a:r>
              <a:rPr lang="en-US" altLang="en-US">
                <a:sym typeface="+mn-ea"/>
              </a:rPr>
              <a:t>Model detects almost all melanomas.</a:t>
            </a:r>
            <a:endParaRPr lang="en-US" altLang="en-US"/>
          </a:p>
          <a:p>
            <a:r>
              <a:rPr lang="en-US" altLang="en-US">
                <a:sym typeface="+mn-ea"/>
              </a:rPr>
              <a:t>It does not confuse healthy nails as melanoma.</a:t>
            </a:r>
            <a:endParaRPr lang="en-US" altLang="en-US"/>
          </a:p>
          <a:p>
            <a:r>
              <a:rPr lang="en-US" altLang="en-US">
                <a:sym typeface="+mn-ea"/>
              </a:rPr>
              <a:t>Training </a:t>
            </a:r>
            <a:r>
              <a:rPr lang="de-DE" altLang="en-US">
                <a:latin typeface="Calibri" panose="020F0502020204030204" charset="0"/>
                <a:sym typeface="+mn-ea"/>
              </a:rPr>
              <a:t>is</a:t>
            </a:r>
            <a:r>
              <a:rPr lang="en-US" altLang="en-US">
                <a:sym typeface="+mn-ea"/>
              </a:rPr>
              <a:t> stable and well-generalized.</a:t>
            </a:r>
            <a:endParaRPr lang="en-US" altLang="en-US"/>
          </a:p>
          <a:p>
            <a:endParaRPr lang="en-US" altLang="en-US"/>
          </a:p>
          <a:p>
            <a:r>
              <a:rPr lang="de-DE" altLang="en-US">
                <a:latin typeface="Calibri" panose="020F0502020204030204" charset="0"/>
                <a:sym typeface="+mn-ea"/>
              </a:rPr>
              <a:t>Precision, Recall and F1-Score are high. </a:t>
            </a:r>
            <a:endParaRPr lang="de-DE" altLang="en-US">
              <a:latin typeface="Calibri" panose="020F0502020204030204" charset="0"/>
              <a:sym typeface="+mn-ea"/>
            </a:endParaRPr>
          </a:p>
          <a:p>
            <a:endParaRPr lang="en-US" altLang="en-US"/>
          </a:p>
          <a:p>
            <a:r>
              <a:rPr lang="de-DE" altLang="en-US" b="1">
                <a:latin typeface="Calibri" panose="020F0502020204030204" charset="0"/>
                <a:sym typeface="+mn-ea"/>
              </a:rPr>
              <a:t>Conclusion: </a:t>
            </a:r>
            <a:r>
              <a:rPr lang="en-US" altLang="en-US"/>
              <a:t>In total, 485 out of 486 test samples are correct</a:t>
            </a:r>
            <a:r>
              <a:rPr lang="de-DE" altLang="en-US">
                <a:latin typeface="Calibri" panose="020F0502020204030204" charset="0"/>
              </a:rPr>
              <a:t> </a:t>
            </a:r>
            <a:r>
              <a:rPr lang="de-DE" altLang="en-US">
                <a:latin typeface="Calibri" panose="020F0502020204030204" charset="0"/>
                <a:sym typeface="+mn-ea"/>
              </a:rPr>
              <a:t> </a:t>
            </a:r>
            <a:r>
              <a:rPr lang="en-US" altLang="en-US">
                <a:sym typeface="+mn-ea"/>
              </a:rPr>
              <a:t>→</a:t>
            </a:r>
            <a:r>
              <a:rPr lang="de-DE" altLang="en-US">
                <a:latin typeface="Calibri" panose="020F0502020204030204" charset="0"/>
                <a:sym typeface="+mn-ea"/>
              </a:rPr>
              <a:t> very good accuracy and balance</a:t>
            </a:r>
            <a:endParaRPr lang="de-DE" altLang="en-US">
              <a:latin typeface="Calibri" panose="020F0502020204030204" charset="0"/>
              <a:sym typeface="+mn-ea"/>
            </a:endParaRPr>
          </a:p>
          <a:p>
            <a:pPr marL="285750" indent="-285750">
              <a:buFont typeface="Arial" panose="020B0604020202020204" pitchFamily="34" charset="0"/>
              <a:buChar char="•"/>
            </a:pPr>
            <a:r>
              <a:rPr lang="de-DE" altLang="en-US">
                <a:latin typeface="Calibri" panose="020F0502020204030204" charset="0"/>
                <a:sym typeface="+mn-ea"/>
              </a:rPr>
              <a:t>The ideal scenario </a:t>
            </a:r>
            <a:r>
              <a:rPr lang="en-US" altLang="en-US">
                <a:latin typeface="Calibri" panose="020F0502020204030204" charset="0"/>
                <a:sym typeface="+mn-ea"/>
              </a:rPr>
              <a:t>for a binary medical classification model</a:t>
            </a:r>
            <a:r>
              <a:rPr lang="de-DE" altLang="en-US">
                <a:latin typeface="Calibri" panose="020F0502020204030204" charset="0"/>
                <a:sym typeface="+mn-ea"/>
              </a:rPr>
              <a:t> </a:t>
            </a:r>
            <a:endParaRPr lang="de-DE" altLang="en-US">
              <a:latin typeface="Calibri" panose="020F0502020204030204" charset="0"/>
              <a:sym typeface="+mn-ea"/>
            </a:endParaRPr>
          </a:p>
          <a:p>
            <a:endParaRPr lang="de-DE" altLang="en-US">
              <a:latin typeface="Calibri" panose="020F0502020204030204" charset="0"/>
              <a:sym typeface="+mn-ea"/>
            </a:endParaRPr>
          </a:p>
          <a:p>
            <a:endParaRPr lang="de-DE" altLang="en-US">
              <a:latin typeface="Calibri" panose="020F0502020204030204" charset="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rPr>
              <a:t>Best Model(s)</a:t>
            </a:r>
            <a:endParaRPr lang="de-DE" altLang="en-US">
              <a:latin typeface="Calibri" panose="020F0502020204030204" charset="0"/>
            </a:endParaRPr>
          </a:p>
        </p:txBody>
      </p:sp>
      <p:sp>
        <p:nvSpPr>
          <p:cNvPr id="3" name="Content Placeholder 2"/>
          <p:cNvSpPr>
            <a:spLocks noGrp="1"/>
          </p:cNvSpPr>
          <p:nvPr>
            <p:ph idx="1"/>
          </p:nvPr>
        </p:nvSpPr>
        <p:spPr>
          <a:xfrm>
            <a:off x="838200" y="1816100"/>
            <a:ext cx="5142230" cy="4351655"/>
          </a:xfrm>
        </p:spPr>
        <p:txBody>
          <a:bodyPr/>
          <a:p>
            <a:r>
              <a:rPr lang="de-DE" altLang="en-US">
                <a:latin typeface="Calibri" panose="020F0502020204030204" charset="0"/>
                <a:sym typeface="+mn-ea"/>
              </a:rPr>
              <a:t> </a:t>
            </a:r>
            <a:r>
              <a:rPr lang="en-US" altLang="en-US">
                <a:latin typeface="Calibri" panose="020F0502020204030204" charset="0"/>
                <a:sym typeface="+mn-ea"/>
              </a:rPr>
              <a:t>With </a:t>
            </a:r>
            <a:r>
              <a:rPr lang="de-DE" altLang="en-US">
                <a:latin typeface="Calibri" panose="020F0502020204030204" charset="0"/>
                <a:sym typeface="+mn-ea"/>
              </a:rPr>
              <a:t>an</a:t>
            </a:r>
            <a:r>
              <a:rPr lang="en-US" altLang="en-US">
                <a:latin typeface="Calibri" panose="020F0502020204030204" charset="0"/>
                <a:sym typeface="+mn-ea"/>
              </a:rPr>
              <a:t> accuracy</a:t>
            </a:r>
            <a:r>
              <a:rPr lang="de-DE" altLang="en-US">
                <a:latin typeface="Calibri" panose="020F0502020204030204" charset="0"/>
                <a:sym typeface="+mn-ea"/>
              </a:rPr>
              <a:t> of 99%</a:t>
            </a:r>
            <a:r>
              <a:rPr lang="en-US" altLang="en-US">
                <a:latin typeface="Calibri" panose="020F0502020204030204" charset="0"/>
                <a:sym typeface="+mn-ea"/>
              </a:rPr>
              <a:t> in melanoma detection, </a:t>
            </a:r>
            <a:r>
              <a:rPr lang="en-US" altLang="en-US" b="1">
                <a:latin typeface="Calibri" panose="020F0502020204030204" charset="0"/>
                <a:sym typeface="+mn-ea"/>
              </a:rPr>
              <a:t>ViT-B/16 </a:t>
            </a:r>
            <a:r>
              <a:rPr lang="en-US" altLang="en-US">
                <a:latin typeface="Calibri" panose="020F0502020204030204" charset="0"/>
                <a:sym typeface="+mn-ea"/>
              </a:rPr>
              <a:t>and </a:t>
            </a:r>
            <a:r>
              <a:rPr lang="en-US" altLang="en-US" b="1">
                <a:latin typeface="Calibri" panose="020F0502020204030204" charset="0"/>
                <a:sym typeface="+mn-ea"/>
              </a:rPr>
              <a:t>YOLO</a:t>
            </a:r>
            <a:r>
              <a:rPr lang="en-US" altLang="en-US">
                <a:latin typeface="Calibri" panose="020F0502020204030204" charset="0"/>
                <a:sym typeface="+mn-ea"/>
              </a:rPr>
              <a:t> show strong potential</a:t>
            </a:r>
            <a:r>
              <a:rPr lang="de-DE" altLang="en-US">
                <a:latin typeface="Calibri" panose="020F0502020204030204" charset="0"/>
                <a:sym typeface="+mn-ea"/>
              </a:rPr>
              <a:t>.</a:t>
            </a:r>
            <a:endParaRPr lang="en-US" altLang="en-US">
              <a:latin typeface="Calibri" panose="020F0502020204030204" charset="0"/>
              <a:sym typeface="+mn-ea"/>
            </a:endParaRPr>
          </a:p>
          <a:p>
            <a:endParaRPr lang="en-US"/>
          </a:p>
        </p:txBody>
      </p:sp>
      <p:pic>
        <p:nvPicPr>
          <p:cNvPr id="5" name="Picture 4"/>
          <p:cNvPicPr/>
          <p:nvPr/>
        </p:nvPicPr>
        <p:blipFill>
          <a:blip r:embed="rId1"/>
          <a:stretch>
            <a:fillRect/>
          </a:stretch>
        </p:blipFill>
        <p:spPr>
          <a:xfrm>
            <a:off x="6839585" y="1478915"/>
            <a:ext cx="4514215" cy="3900170"/>
          </a:xfrm>
          <a:prstGeom prst="rect">
            <a:avLst/>
          </a:prstGeom>
        </p:spPr>
      </p:pic>
      <p:sp>
        <p:nvSpPr>
          <p:cNvPr id="6" name="Text Box 5"/>
          <p:cNvSpPr txBox="1"/>
          <p:nvPr/>
        </p:nvSpPr>
        <p:spPr>
          <a:xfrm>
            <a:off x="6839585" y="5522595"/>
            <a:ext cx="4533265" cy="645160"/>
          </a:xfrm>
          <a:prstGeom prst="rect">
            <a:avLst/>
          </a:prstGeom>
          <a:noFill/>
        </p:spPr>
        <p:txBody>
          <a:bodyPr wrap="square" rtlCol="0">
            <a:spAutoFit/>
          </a:bodyPr>
          <a:p>
            <a:r>
              <a:rPr lang="de-DE" altLang="en-US">
                <a:latin typeface="Calibri" panose="020F0502020204030204" charset="0"/>
              </a:rPr>
              <a:t>Confusion Matrix of ViT-B/16 and YOLO (they have the same conf matrix)</a:t>
            </a:r>
            <a:endParaRPr lang="de-DE" altLang="en-US">
              <a:latin typeface="Calibri" panose="020F05020202040302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rPr>
              <a:t>What to do next to improve the model(s)?</a:t>
            </a:r>
            <a:endParaRPr lang="de-DE" altLang="en-US">
              <a:latin typeface="Calibri" panose="020F0502020204030204" charset="0"/>
            </a:endParaRPr>
          </a:p>
        </p:txBody>
      </p:sp>
      <p:sp>
        <p:nvSpPr>
          <p:cNvPr id="3" name="Content Placeholder 2"/>
          <p:cNvSpPr>
            <a:spLocks noGrp="1"/>
          </p:cNvSpPr>
          <p:nvPr>
            <p:ph idx="1"/>
          </p:nvPr>
        </p:nvSpPr>
        <p:spPr/>
        <p:txBody>
          <a:bodyPr/>
          <a:p>
            <a:r>
              <a:rPr lang="de-DE" altLang="en-US">
                <a:latin typeface="Calibri" panose="020F0502020204030204" charset="0"/>
              </a:rPr>
              <a:t>class imbalance can be fixed (more melanoma images are needed)</a:t>
            </a:r>
            <a:endParaRPr lang="de-DE" altLang="en-US">
              <a:latin typeface="Calibri" panose="020F0502020204030204" charset="0"/>
            </a:endParaRPr>
          </a:p>
          <a:p>
            <a:r>
              <a:rPr lang="de-DE" altLang="en-US">
                <a:latin typeface="Calibri" panose="020F0502020204030204" charset="0"/>
              </a:rPr>
              <a:t>experimenting with different hyperparameters (e.g. different epochs, batch sizes, optimizers, lr, etc.)</a:t>
            </a:r>
            <a:endParaRPr lang="de-DE" altLang="en-US">
              <a:latin typeface="Calibri" panose="020F0502020204030204" charset="0"/>
            </a:endParaRPr>
          </a:p>
          <a:p>
            <a:endParaRPr lang="de-DE" altLang="en-US">
              <a:latin typeface="Calibri" panose="020F05020202040302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de-DE" altLang="en-US">
                <a:latin typeface="Calibri" panose="020F0502020204030204" charset="0"/>
              </a:rPr>
              <a:t>accuracy:</a:t>
            </a:r>
            <a:endParaRPr lang="de-DE" altLang="en-US">
              <a:latin typeface="Calibri" panose="020F0502020204030204" charset="0"/>
            </a:endParaRPr>
          </a:p>
          <a:p>
            <a:r>
              <a:rPr lang="de-DE" altLang="en-US">
                <a:latin typeface="Calibri" panose="020F0502020204030204" charset="0"/>
                <a:sym typeface="+mn-ea"/>
              </a:rPr>
              <a:t>EfficientNetB0</a:t>
            </a:r>
            <a:endParaRPr lang="de-DE" altLang="en-US">
              <a:latin typeface="Calibri" panose="020F0502020204030204" charset="0"/>
              <a:sym typeface="+mn-ea"/>
            </a:endParaRPr>
          </a:p>
          <a:p>
            <a:r>
              <a:rPr lang="de-DE" altLang="en-US">
                <a:latin typeface="Calibri" panose="020F0502020204030204" charset="0"/>
                <a:sym typeface="+mn-ea"/>
              </a:rPr>
              <a:t>VGG19:</a:t>
            </a:r>
            <a:endParaRPr lang="de-DE" altLang="en-US">
              <a:latin typeface="Calibri" panose="020F0502020204030204" charset="0"/>
              <a:sym typeface="+mn-ea"/>
            </a:endParaRPr>
          </a:p>
          <a:p>
            <a:endParaRPr lang="de-DE" altLang="en-US">
              <a:latin typeface="Calibri" panose="020F0502020204030204" charset="0"/>
            </a:endParaRPr>
          </a:p>
          <a:p>
            <a:endParaRPr lang="de-DE" altLang="en-US">
              <a:latin typeface="Calibri" panose="020F05020202040302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838200" y="1825625"/>
          <a:ext cx="10515600" cy="26670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381000">
                <a:tc>
                  <a:txBody>
                    <a:bodyPr/>
                    <a:p>
                      <a:pPr>
                        <a:buNone/>
                      </a:pPr>
                      <a:endParaRPr lang="en-US"/>
                    </a:p>
                  </a:txBody>
                  <a:tcPr/>
                </a:tc>
                <a:tc>
                  <a:txBody>
                    <a:bodyPr/>
                    <a:p>
                      <a:pPr>
                        <a:buNone/>
                      </a:pPr>
                      <a:r>
                        <a:rPr lang="de-DE" altLang="en-US">
                          <a:latin typeface="Calibri" panose="020F0502020204030204" charset="0"/>
                        </a:rPr>
                        <a:t>NAM precision</a:t>
                      </a:r>
                      <a:endParaRPr lang="de-DE" altLang="en-US">
                        <a:latin typeface="Calibri" panose="020F0502020204030204" charset="0"/>
                      </a:endParaRPr>
                    </a:p>
                  </a:txBody>
                  <a:tcPr/>
                </a:tc>
                <a:tc>
                  <a:txBody>
                    <a:bodyPr/>
                    <a:p>
                      <a:pPr>
                        <a:buNone/>
                      </a:pPr>
                      <a:r>
                        <a:rPr lang="de-DE" altLang="en-US">
                          <a:latin typeface="Calibri" panose="020F0502020204030204" charset="0"/>
                        </a:rPr>
                        <a:t>NAM recall</a:t>
                      </a:r>
                      <a:endParaRPr lang="de-DE" altLang="en-US">
                        <a:latin typeface="Calibri" panose="020F0502020204030204" charset="0"/>
                      </a:endParaRPr>
                    </a:p>
                  </a:txBody>
                  <a:tcPr/>
                </a:tc>
                <a:tc>
                  <a:txBody>
                    <a:bodyPr/>
                    <a:p>
                      <a:pPr>
                        <a:buNone/>
                      </a:pPr>
                      <a:r>
                        <a:rPr lang="de-DE" altLang="en-US">
                          <a:latin typeface="Calibri" panose="020F0502020204030204" charset="0"/>
                        </a:rPr>
                        <a:t>NAM F1-score</a:t>
                      </a:r>
                      <a:endParaRPr lang="de-DE" altLang="en-US">
                        <a:latin typeface="Calibri" panose="020F0502020204030204" charset="0"/>
                      </a:endParaRPr>
                    </a:p>
                  </a:txBody>
                  <a:tcPr/>
                </a:tc>
                <a:tc>
                  <a:txBody>
                    <a:bodyPr/>
                    <a:p>
                      <a:pPr>
                        <a:buNone/>
                      </a:pPr>
                      <a:r>
                        <a:rPr lang="de-DE" altLang="en-US">
                          <a:latin typeface="Calibri" panose="020F0502020204030204" charset="0"/>
                        </a:rPr>
                        <a:t>accuracy</a:t>
                      </a:r>
                      <a:endParaRPr lang="de-DE" altLang="en-US">
                        <a:latin typeface="Calibri" panose="020F0502020204030204" charset="0"/>
                      </a:endParaRPr>
                    </a:p>
                  </a:txBody>
                  <a:tcPr/>
                </a:tc>
              </a:tr>
              <a:tr h="381000">
                <a:tc>
                  <a:txBody>
                    <a:bodyPr/>
                    <a:p>
                      <a:pPr>
                        <a:buNone/>
                      </a:pPr>
                      <a:r>
                        <a:rPr lang="de-DE" altLang="en-US" b="1">
                          <a:latin typeface="Calibri" panose="020F0502020204030204" charset="0"/>
                        </a:rPr>
                        <a:t>ResNet-18</a:t>
                      </a:r>
                      <a:endParaRPr lang="de-DE" altLang="en-US" b="1">
                        <a:latin typeface="Calibri" panose="020F0502020204030204" charset="0"/>
                      </a:endParaRPr>
                    </a:p>
                  </a:txBody>
                  <a:tcPr/>
                </a:tc>
                <a:tc>
                  <a:txBody>
                    <a:bodyPr/>
                    <a:p>
                      <a:pPr>
                        <a:buNone/>
                      </a:pPr>
                      <a:r>
                        <a:rPr lang="de-DE" altLang="en-US" b="1">
                          <a:latin typeface="Calibri" panose="020F0502020204030204" charset="0"/>
                        </a:rPr>
                        <a:t>0.940</a:t>
                      </a:r>
                      <a:endParaRPr lang="de-DE" altLang="en-US" b="1">
                        <a:latin typeface="Calibri" panose="020F0502020204030204" charset="0"/>
                      </a:endParaRPr>
                    </a:p>
                  </a:txBody>
                  <a:tcPr/>
                </a:tc>
                <a:tc>
                  <a:txBody>
                    <a:bodyPr/>
                    <a:p>
                      <a:pPr>
                        <a:buNone/>
                      </a:pPr>
                      <a:r>
                        <a:rPr lang="de-DE" altLang="en-US" b="1">
                          <a:latin typeface="Calibri" panose="020F0502020204030204" charset="0"/>
                        </a:rPr>
                        <a:t>0.902</a:t>
                      </a:r>
                      <a:endParaRPr lang="de-DE" altLang="en-US" b="1">
                        <a:latin typeface="Calibri" panose="020F0502020204030204" charset="0"/>
                      </a:endParaRPr>
                    </a:p>
                  </a:txBody>
                  <a:tcPr/>
                </a:tc>
                <a:tc>
                  <a:txBody>
                    <a:bodyPr/>
                    <a:p>
                      <a:pPr>
                        <a:buNone/>
                      </a:pPr>
                      <a:r>
                        <a:rPr lang="de-DE" altLang="en-US" b="1">
                          <a:latin typeface="Calibri" panose="020F0502020204030204" charset="0"/>
                        </a:rPr>
                        <a:t>0.921</a:t>
                      </a:r>
                      <a:endParaRPr lang="de-DE" altLang="en-US" b="1">
                        <a:latin typeface="Calibri" panose="020F0502020204030204" charset="0"/>
                      </a:endParaRPr>
                    </a:p>
                  </a:txBody>
                  <a:tcPr/>
                </a:tc>
                <a:tc>
                  <a:txBody>
                    <a:bodyPr/>
                    <a:p>
                      <a:pPr>
                        <a:buNone/>
                      </a:pPr>
                      <a:r>
                        <a:rPr lang="de-DE" altLang="en-US" b="1">
                          <a:latin typeface="Calibri" panose="020F0502020204030204" charset="0"/>
                        </a:rPr>
                        <a:t>0.960</a:t>
                      </a:r>
                      <a:endParaRPr lang="de-DE" altLang="en-US" b="1">
                        <a:latin typeface="Calibri" panose="020F0502020204030204" charset="0"/>
                      </a:endParaRPr>
                    </a:p>
                  </a:txBody>
                  <a:tcPr/>
                </a:tc>
              </a:tr>
              <a:tr h="381000">
                <a:tc>
                  <a:txBody>
                    <a:bodyPr/>
                    <a:p>
                      <a:pPr>
                        <a:buNone/>
                      </a:pPr>
                      <a:r>
                        <a:rPr lang="de-DE" altLang="en-US">
                          <a:latin typeface="Calibri" panose="020F0502020204030204" charset="0"/>
                        </a:rPr>
                        <a:t>VGG-19</a:t>
                      </a:r>
                      <a:endParaRPr lang="de-DE" altLang="en-US">
                        <a:latin typeface="Calibri" panose="020F0502020204030204" charset="0"/>
                      </a:endParaRPr>
                    </a:p>
                  </a:txBody>
                  <a:tcPr/>
                </a:tc>
                <a:tc>
                  <a:txBody>
                    <a:bodyPr/>
                    <a:p>
                      <a:pPr>
                        <a:buNone/>
                      </a:pPr>
                      <a:r>
                        <a:rPr lang="de-DE" altLang="en-US">
                          <a:latin typeface="Calibri" panose="020F0502020204030204" charset="0"/>
                        </a:rPr>
                        <a:t>0</a:t>
                      </a:r>
                      <a:endParaRPr lang="de-DE" altLang="en-US">
                        <a:latin typeface="Calibri" panose="020F0502020204030204" charset="0"/>
                      </a:endParaRPr>
                    </a:p>
                  </a:txBody>
                  <a:tcPr/>
                </a:tc>
                <a:tc>
                  <a:txBody>
                    <a:bodyPr/>
                    <a:p>
                      <a:pPr>
                        <a:buNone/>
                      </a:pPr>
                      <a:r>
                        <a:rPr lang="de-DE" altLang="en-US">
                          <a:latin typeface="Calibri" panose="020F0502020204030204" charset="0"/>
                        </a:rPr>
                        <a:t>0</a:t>
                      </a:r>
                      <a:endParaRPr lang="de-DE" altLang="en-US">
                        <a:latin typeface="Calibri" panose="020F0502020204030204" charset="0"/>
                      </a:endParaRPr>
                    </a:p>
                  </a:txBody>
                  <a:tcPr/>
                </a:tc>
                <a:tc>
                  <a:txBody>
                    <a:bodyPr/>
                    <a:p>
                      <a:pPr>
                        <a:buNone/>
                      </a:pPr>
                      <a:r>
                        <a:rPr lang="de-DE" altLang="en-US">
                          <a:latin typeface="Calibri" panose="020F0502020204030204" charset="0"/>
                        </a:rPr>
                        <a:t>0</a:t>
                      </a:r>
                      <a:endParaRPr lang="de-DE" altLang="en-US">
                        <a:latin typeface="Calibri" panose="020F0502020204030204" charset="0"/>
                      </a:endParaRPr>
                    </a:p>
                  </a:txBody>
                  <a:tcPr/>
                </a:tc>
                <a:tc>
                  <a:txBody>
                    <a:bodyPr/>
                    <a:p>
                      <a:pPr>
                        <a:buNone/>
                      </a:pPr>
                      <a:r>
                        <a:rPr lang="de-DE" altLang="en-US">
                          <a:latin typeface="Calibri" panose="020F0502020204030204" charset="0"/>
                        </a:rPr>
                        <a:t>0.747</a:t>
                      </a:r>
                      <a:endParaRPr lang="de-DE" altLang="en-US">
                        <a:latin typeface="Calibri" panose="020F0502020204030204" charset="0"/>
                      </a:endParaRPr>
                    </a:p>
                  </a:txBody>
                  <a:tcPr/>
                </a:tc>
              </a:tr>
              <a:tr h="381000">
                <a:tc>
                  <a:txBody>
                    <a:bodyPr/>
                    <a:p>
                      <a:pPr>
                        <a:buNone/>
                      </a:pPr>
                      <a:r>
                        <a:rPr lang="de-DE" altLang="en-US">
                          <a:latin typeface="Calibri" panose="020F0502020204030204" charset="0"/>
                        </a:rPr>
                        <a:t>EfficientNet-B0</a:t>
                      </a:r>
                      <a:endParaRPr lang="de-DE" altLang="en-US">
                        <a:latin typeface="Calibri" panose="020F0502020204030204" charset="0"/>
                      </a:endParaRPr>
                    </a:p>
                  </a:txBody>
                  <a:tcPr/>
                </a:tc>
                <a:tc>
                  <a:txBody>
                    <a:bodyPr/>
                    <a:p>
                      <a:pPr>
                        <a:buNone/>
                      </a:pPr>
                      <a:r>
                        <a:rPr lang="de-DE" altLang="en-US">
                          <a:latin typeface="Calibri" panose="020F0502020204030204" charset="0"/>
                        </a:rPr>
                        <a:t>0</a:t>
                      </a:r>
                      <a:endParaRPr lang="de-DE" altLang="en-US">
                        <a:latin typeface="Calibri" panose="020F0502020204030204" charset="0"/>
                      </a:endParaRPr>
                    </a:p>
                  </a:txBody>
                  <a:tcPr/>
                </a:tc>
                <a:tc>
                  <a:txBody>
                    <a:bodyPr/>
                    <a:p>
                      <a:pPr>
                        <a:buNone/>
                      </a:pPr>
                      <a:r>
                        <a:rPr lang="de-DE" altLang="en-US">
                          <a:latin typeface="Calibri" panose="020F0502020204030204" charset="0"/>
                        </a:rPr>
                        <a:t>0</a:t>
                      </a:r>
                      <a:endParaRPr lang="de-DE" altLang="en-US">
                        <a:latin typeface="Calibri" panose="020F0502020204030204" charset="0"/>
                      </a:endParaRPr>
                    </a:p>
                  </a:txBody>
                  <a:tcPr/>
                </a:tc>
                <a:tc>
                  <a:txBody>
                    <a:bodyPr/>
                    <a:p>
                      <a:pPr>
                        <a:buNone/>
                      </a:pPr>
                      <a:r>
                        <a:rPr lang="de-DE" altLang="en-US">
                          <a:latin typeface="Calibri" panose="020F0502020204030204" charset="0"/>
                        </a:rPr>
                        <a:t>0</a:t>
                      </a:r>
                      <a:endParaRPr lang="de-DE" altLang="en-US">
                        <a:latin typeface="Calibri" panose="020F0502020204030204" charset="0"/>
                      </a:endParaRPr>
                    </a:p>
                  </a:txBody>
                  <a:tcPr/>
                </a:tc>
                <a:tc>
                  <a:txBody>
                    <a:bodyPr/>
                    <a:p>
                      <a:pPr>
                        <a:buNone/>
                      </a:pPr>
                      <a:r>
                        <a:rPr lang="de-DE" altLang="en-US">
                          <a:latin typeface="Calibri" panose="020F0502020204030204" charset="0"/>
                        </a:rPr>
                        <a:t>0.747</a:t>
                      </a:r>
                      <a:endParaRPr lang="de-DE" altLang="en-US">
                        <a:latin typeface="Calibri" panose="020F0502020204030204" charset="0"/>
                      </a:endParaRPr>
                    </a:p>
                  </a:txBody>
                  <a:tcPr/>
                </a:tc>
              </a:tr>
              <a:tr h="381000">
                <a:tc>
                  <a:txBody>
                    <a:bodyPr/>
                    <a:p>
                      <a:pPr>
                        <a:buNone/>
                      </a:pPr>
                      <a:r>
                        <a:rPr lang="de-DE" altLang="en-US">
                          <a:latin typeface="Calibri" panose="020F0502020204030204" charset="0"/>
                        </a:rPr>
                        <a:t>Custom CNN</a:t>
                      </a:r>
                      <a:endParaRPr lang="de-DE" altLang="en-US">
                        <a:latin typeface="Calibri" panose="020F0502020204030204" charset="0"/>
                      </a:endParaRPr>
                    </a:p>
                  </a:txBody>
                  <a:tcPr/>
                </a:tc>
                <a:tc>
                  <a:txBody>
                    <a:bodyPr/>
                    <a:p>
                      <a:pPr>
                        <a:buNone/>
                      </a:pPr>
                      <a:r>
                        <a:rPr lang="de-DE" altLang="en-US">
                          <a:latin typeface="Calibri" panose="020F0502020204030204" charset="0"/>
                        </a:rPr>
                        <a:t>1</a:t>
                      </a:r>
                      <a:endParaRPr lang="de-DE" altLang="en-US">
                        <a:latin typeface="Calibri" panose="020F0502020204030204" charset="0"/>
                      </a:endParaRPr>
                    </a:p>
                  </a:txBody>
                  <a:tcPr/>
                </a:tc>
                <a:tc>
                  <a:txBody>
                    <a:bodyPr/>
                    <a:p>
                      <a:pPr>
                        <a:buNone/>
                      </a:pPr>
                      <a:r>
                        <a:rPr lang="de-DE" altLang="en-US">
                          <a:latin typeface="Calibri" panose="020F0502020204030204" charset="0"/>
                        </a:rPr>
                        <a:t>0.313</a:t>
                      </a:r>
                      <a:endParaRPr lang="de-DE" altLang="en-US">
                        <a:latin typeface="Calibri" panose="020F0502020204030204" charset="0"/>
                      </a:endParaRPr>
                    </a:p>
                  </a:txBody>
                  <a:tcPr/>
                </a:tc>
                <a:tc>
                  <a:txBody>
                    <a:bodyPr/>
                    <a:p>
                      <a:pPr>
                        <a:buNone/>
                      </a:pPr>
                      <a:r>
                        <a:rPr lang="de-DE" altLang="en-US">
                          <a:latin typeface="Calibri" panose="020F0502020204030204" charset="0"/>
                        </a:rPr>
                        <a:t>0.472</a:t>
                      </a:r>
                      <a:endParaRPr lang="de-DE" altLang="en-US">
                        <a:latin typeface="Calibri" panose="020F0502020204030204" charset="0"/>
                      </a:endParaRPr>
                    </a:p>
                  </a:txBody>
                  <a:tcPr/>
                </a:tc>
                <a:tc>
                  <a:txBody>
                    <a:bodyPr/>
                    <a:p>
                      <a:pPr>
                        <a:buNone/>
                      </a:pPr>
                      <a:r>
                        <a:rPr lang="de-DE" altLang="en-US">
                          <a:latin typeface="Calibri" panose="020F0502020204030204" charset="0"/>
                        </a:rPr>
                        <a:t>0.830</a:t>
                      </a:r>
                      <a:endParaRPr lang="de-DE" altLang="en-US">
                        <a:latin typeface="Calibri" panose="020F0502020204030204" charset="0"/>
                      </a:endParaRPr>
                    </a:p>
                  </a:txBody>
                  <a:tcPr/>
                </a:tc>
              </a:tr>
              <a:tr h="381000">
                <a:tc>
                  <a:txBody>
                    <a:bodyPr/>
                    <a:p>
                      <a:pPr>
                        <a:buNone/>
                      </a:pPr>
                      <a:r>
                        <a:rPr lang="de-DE" altLang="en-US" b="1">
                          <a:latin typeface="Calibri" panose="020F0502020204030204" charset="0"/>
                        </a:rPr>
                        <a:t>ViT-B/16</a:t>
                      </a:r>
                      <a:endParaRPr lang="de-DE" altLang="en-US" b="1">
                        <a:latin typeface="Calibri" panose="020F0502020204030204" charset="0"/>
                      </a:endParaRPr>
                    </a:p>
                  </a:txBody>
                  <a:tcPr/>
                </a:tc>
                <a:tc>
                  <a:txBody>
                    <a:bodyPr/>
                    <a:p>
                      <a:pPr>
                        <a:buNone/>
                      </a:pPr>
                      <a:r>
                        <a:rPr lang="de-DE" altLang="en-US" b="1">
                          <a:latin typeface="Calibri" panose="020F0502020204030204" charset="0"/>
                        </a:rPr>
                        <a:t>1</a:t>
                      </a:r>
                      <a:endParaRPr lang="de-DE" altLang="en-US" b="1">
                        <a:latin typeface="Calibri" panose="020F0502020204030204" charset="0"/>
                      </a:endParaRPr>
                    </a:p>
                  </a:txBody>
                  <a:tcPr/>
                </a:tc>
                <a:tc>
                  <a:txBody>
                    <a:bodyPr/>
                    <a:p>
                      <a:pPr>
                        <a:buNone/>
                      </a:pPr>
                      <a:r>
                        <a:rPr lang="de-DE" altLang="en-US" b="1">
                          <a:latin typeface="Calibri" panose="020F0502020204030204" charset="0"/>
                        </a:rPr>
                        <a:t>0.99</a:t>
                      </a:r>
                      <a:endParaRPr lang="de-DE" altLang="en-US" b="1">
                        <a:latin typeface="Calibri" panose="020F0502020204030204" charset="0"/>
                      </a:endParaRPr>
                    </a:p>
                  </a:txBody>
                  <a:tcPr/>
                </a:tc>
                <a:tc>
                  <a:txBody>
                    <a:bodyPr/>
                    <a:p>
                      <a:pPr>
                        <a:buNone/>
                      </a:pPr>
                      <a:r>
                        <a:rPr lang="de-DE" altLang="en-US" b="1">
                          <a:latin typeface="Calibri" panose="020F0502020204030204" charset="0"/>
                        </a:rPr>
                        <a:t>1</a:t>
                      </a:r>
                      <a:endParaRPr lang="de-DE" altLang="en-US" b="1">
                        <a:latin typeface="Calibri" panose="020F0502020204030204" charset="0"/>
                      </a:endParaRPr>
                    </a:p>
                  </a:txBody>
                  <a:tcPr/>
                </a:tc>
                <a:tc>
                  <a:txBody>
                    <a:bodyPr/>
                    <a:p>
                      <a:pPr>
                        <a:buNone/>
                      </a:pPr>
                      <a:r>
                        <a:rPr lang="de-DE" altLang="en-US" b="1">
                          <a:latin typeface="Calibri" panose="020F0502020204030204" charset="0"/>
                        </a:rPr>
                        <a:t>0.99</a:t>
                      </a:r>
                      <a:endParaRPr lang="de-DE" altLang="en-US" b="1">
                        <a:latin typeface="Calibri" panose="020F0502020204030204" charset="0"/>
                      </a:endParaRPr>
                    </a:p>
                  </a:txBody>
                  <a:tcPr/>
                </a:tc>
              </a:tr>
              <a:tr h="381000">
                <a:tc>
                  <a:txBody>
                    <a:bodyPr/>
                    <a:p>
                      <a:pPr>
                        <a:buNone/>
                      </a:pPr>
                      <a:r>
                        <a:rPr lang="de-DE" altLang="en-US" b="1">
                          <a:latin typeface="Calibri" panose="020F0502020204030204" charset="0"/>
                        </a:rPr>
                        <a:t>YOLOv8-cls</a:t>
                      </a:r>
                      <a:endParaRPr lang="de-DE" altLang="en-US" b="1">
                        <a:latin typeface="Calibri" panose="020F0502020204030204" charset="0"/>
                      </a:endParaRPr>
                    </a:p>
                  </a:txBody>
                  <a:tcPr/>
                </a:tc>
                <a:tc>
                  <a:txBody>
                    <a:bodyPr/>
                    <a:p>
                      <a:pPr>
                        <a:buNone/>
                      </a:pPr>
                      <a:r>
                        <a:rPr lang="de-DE" altLang="en-US" b="1">
                          <a:latin typeface="Calibri" panose="020F0502020204030204" charset="0"/>
                        </a:rPr>
                        <a:t>1</a:t>
                      </a:r>
                      <a:endParaRPr lang="de-DE" altLang="en-US" b="1">
                        <a:latin typeface="Calibri" panose="020F0502020204030204" charset="0"/>
                      </a:endParaRPr>
                    </a:p>
                  </a:txBody>
                  <a:tcPr/>
                </a:tc>
                <a:tc>
                  <a:txBody>
                    <a:bodyPr/>
                    <a:p>
                      <a:pPr>
                        <a:buNone/>
                      </a:pPr>
                      <a:r>
                        <a:rPr lang="de-DE" altLang="en-US" b="1">
                          <a:latin typeface="Calibri" panose="020F0502020204030204" charset="0"/>
                        </a:rPr>
                        <a:t>0.992</a:t>
                      </a:r>
                      <a:endParaRPr lang="de-DE" altLang="en-US" b="1">
                        <a:latin typeface="Calibri" panose="020F0502020204030204" charset="0"/>
                      </a:endParaRPr>
                    </a:p>
                  </a:txBody>
                  <a:tcPr/>
                </a:tc>
                <a:tc>
                  <a:txBody>
                    <a:bodyPr/>
                    <a:p>
                      <a:pPr>
                        <a:buNone/>
                      </a:pPr>
                      <a:r>
                        <a:rPr lang="de-DE" altLang="en-US" b="1">
                          <a:latin typeface="Calibri" panose="020F0502020204030204" charset="0"/>
                        </a:rPr>
                        <a:t>0.996</a:t>
                      </a:r>
                      <a:endParaRPr lang="de-DE" altLang="en-US" b="1">
                        <a:latin typeface="Calibri" panose="020F0502020204030204" charset="0"/>
                      </a:endParaRPr>
                    </a:p>
                  </a:txBody>
                  <a:tcPr/>
                </a:tc>
                <a:tc>
                  <a:txBody>
                    <a:bodyPr/>
                    <a:p>
                      <a:pPr>
                        <a:buNone/>
                      </a:pPr>
                      <a:r>
                        <a:rPr lang="de-DE" altLang="en-US" b="1">
                          <a:latin typeface="Calibri" panose="020F0502020204030204" charset="0"/>
                        </a:rPr>
                        <a:t>0.998</a:t>
                      </a:r>
                      <a:endParaRPr lang="de-DE" altLang="en-US" b="1">
                        <a:latin typeface="Calibri" panose="020F0502020204030204" charset="0"/>
                      </a:endParaRPr>
                    </a:p>
                  </a:txBody>
                  <a:tcPr/>
                </a:tc>
              </a:tr>
            </a:tbl>
          </a:graphicData>
        </a:graphic>
      </p:graphicFrame>
    </p:spTree>
  </p:cSld>
  <p:clrMapOvr>
    <a:masterClrMapping/>
  </p:clrMapOvr>
</p:sld>
</file>

<file path=ppt/tags/tag1.xml><?xml version="1.0" encoding="utf-8"?>
<p:tagLst xmlns:p="http://schemas.openxmlformats.org/presentationml/2006/main">
  <p:tag name="TABLE_ENDDRAG_ORIGIN_RECT" val="678*331"/>
  <p:tag name="TABLE_ENDDRAG_RECT" val="105*148*678*331"/>
</p:tagLst>
</file>

<file path=ppt/tags/tag2.xml><?xml version="1.0" encoding="utf-8"?>
<p:tagLst xmlns:p="http://schemas.openxmlformats.org/presentationml/2006/main">
  <p:tag name="TABLE_ENDDRAG_ORIGIN_RECT" val="762*204"/>
  <p:tag name="TABLE_ENDDRAG_RECT" val="25*202*762*204"/>
</p:tagLst>
</file>

<file path=ppt/tags/tag3.xml><?xml version="1.0" encoding="utf-8"?>
<p:tagLst xmlns:p="http://schemas.openxmlformats.org/presentationml/2006/main">
  <p:tag name="KSO_WM_DIAGRAM_VIRTUALLY_FRAME" val="{&quot;height&quot;:160,&quot;left&quot;:668.9,&quot;top&quot;:307.75,&quot;width&quot;:274.6}"/>
</p:tagLst>
</file>

<file path=ppt/tags/tag4.xml><?xml version="1.0" encoding="utf-8"?>
<p:tagLst xmlns:p="http://schemas.openxmlformats.org/presentationml/2006/main">
  <p:tag name="KSO_WM_DIAGRAM_VIRTUALLY_FRAME" val="{&quot;height&quot;:160,&quot;left&quot;:668.9,&quot;top&quot;:307.75,&quot;width&quot;:274.6}"/>
</p:tagLst>
</file>

<file path=ppt/tags/tag5.xml><?xml version="1.0" encoding="utf-8"?>
<p:tagLst xmlns:p="http://schemas.openxmlformats.org/presentationml/2006/main">
  <p:tag name="KSO_WM_DIAGRAM_VIRTUALLY_FRAME" val="{&quot;height&quot;:160,&quot;left&quot;:668.9,&quot;top&quot;:307.75,&quot;width&quot;:274.6}"/>
</p:tagLst>
</file>

<file path=ppt/tags/tag6.xml><?xml version="1.0" encoding="utf-8"?>
<p:tagLst xmlns:p="http://schemas.openxmlformats.org/presentationml/2006/main">
  <p:tag name="KSO_WM_DIAGRAM_VIRTUALLY_FRAME" val="{&quot;height&quot;:160,&quot;left&quot;:668.9,&quot;top&quot;:307.75,&quot;width&quot;:274.6}"/>
</p:tagLst>
</file>

<file path=ppt/tags/tag7.xml><?xml version="1.0" encoding="utf-8"?>
<p:tagLst xmlns:p="http://schemas.openxmlformats.org/presentationml/2006/main">
  <p:tag name="KSO_WM_DIAGRAM_VIRTUALLY_FRAME" val="{&quot;height&quot;:160,&quot;left&quot;:668.9,&quot;top&quot;:307.75,&quot;width&quot;:274.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10328</Words>
  <Application>WPS Presentation</Application>
  <PresentationFormat>Widescreen</PresentationFormat>
  <Paragraphs>543</Paragraphs>
  <Slides>33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33</vt:i4>
      </vt:variant>
    </vt:vector>
  </HeadingPairs>
  <TitlesOfParts>
    <vt:vector size="44" baseType="lpstr">
      <vt:lpstr>Arial</vt:lpstr>
      <vt:lpstr>SimSun</vt:lpstr>
      <vt:lpstr>Wingdings</vt:lpstr>
      <vt:lpstr>Calibri</vt:lpstr>
      <vt:lpstr>Cambria Math</vt:lpstr>
      <vt:lpstr>MS Mincho</vt:lpstr>
      <vt:lpstr>Liberation Mono</vt:lpstr>
      <vt:lpstr>Microsoft YaHei</vt:lpstr>
      <vt:lpstr>Arial Unicode MS</vt:lpstr>
      <vt:lpstr>Calibri Light</vt:lpstr>
      <vt:lpstr>Office Theme</vt:lpstr>
      <vt:lpstr>Nail Melanoma Project</vt:lpstr>
      <vt:lpstr>Results of the Bounding Box Algorithm: Precision, Recall and F1-Scores from the Confusion Matrices </vt:lpstr>
      <vt:lpstr>Confusion Matrix of the model for bounding box algorithm (epoch=20, batch=32, conf=0,3)</vt:lpstr>
      <vt:lpstr>Results of the model for bounding box algorithm (epoch=20, batch=32, conf=0,3)</vt:lpstr>
      <vt:lpstr>Current Dataset with Numbers</vt:lpstr>
      <vt:lpstr>PowerPoint 演示文稿</vt:lpstr>
      <vt:lpstr>PowerPoint 演示文稿</vt:lpstr>
      <vt:lpstr>PowerPoint 演示文稿</vt:lpstr>
      <vt:lpstr>PowerPoint 演示文稿</vt:lpstr>
      <vt:lpstr>PowerPoint 演示文稿</vt:lpstr>
      <vt:lpstr>The model performs slightly better for healthy nails, likely due to higher visual consistency, while melanoma nails show more variability in shape and color</vt:lpstr>
      <vt:lpstr>Confidence Score Analysis</vt:lpstr>
      <vt:lpstr>Confidence Score Analysis</vt:lpstr>
      <vt:lpstr>Error Types &amp; Reasons why actual and result numbers do not align</vt:lpstr>
      <vt:lpstr>Error Examples</vt:lpstr>
      <vt:lpstr>Benchmark Comparison of CNN Models (from Github) for Image Classification</vt:lpstr>
      <vt:lpstr>Dataset Structure</vt:lpstr>
      <vt:lpstr>EfficientNetB0 (batch size: 32, epochs: 10)</vt:lpstr>
      <vt:lpstr>Confusion Matrix and other Metrics</vt:lpstr>
      <vt:lpstr>Vision Transformer ViT-B/16 (batch size: 32, epochs: 10)</vt:lpstr>
      <vt:lpstr>PowerPoint 演示文稿</vt:lpstr>
      <vt:lpstr>ResNet18 (batch size: 32, epochs: 10)</vt:lpstr>
      <vt:lpstr>PowerPoint 演示文稿</vt:lpstr>
      <vt:lpstr>Swin Transformer (batch size: 32, epochs: 10)</vt:lpstr>
      <vt:lpstr>PowerPoint 演示文稿</vt:lpstr>
      <vt:lpstr>Vgg19 (batch size: 32, epochs: 10)</vt:lpstr>
      <vt:lpstr>PowerPoint 演示文稿</vt:lpstr>
      <vt:lpstr>YOLO (batch size: 32, epochs: 10)</vt:lpstr>
      <vt:lpstr>PowerPoint 演示文稿</vt:lpstr>
      <vt:lpstr>Best Model(s)</vt:lpstr>
      <vt:lpstr>What to do next to improve the model(s)?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Ayca Öztürk</dc:creator>
  <cp:lastModifiedBy>Ayca Öztürk</cp:lastModifiedBy>
  <cp:revision>49</cp:revision>
  <dcterms:created xsi:type="dcterms:W3CDTF">2025-10-12T21:09:00Z</dcterms:created>
  <dcterms:modified xsi:type="dcterms:W3CDTF">2025-12-23T07:48:46Z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5BEB3DA6798845289B40D77AC1CF5F9F_13</vt:lpwstr>
  </property>
  <property fmtid="{D5CDD505-2E9C-101B-9397-08002B2CF9AE}" pid="3" name="KSOProductBuildVer">
    <vt:lpwstr>1033-12.2.0.23131</vt:lpwstr>
  </property>
</Properties>
</file>